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EXECUTIVE POC REPORT &amp; ARCHITECTURE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3800" b="1">
                <a:solidFill>
                  <a:srgbClr val="F8FAFC"/>
                </a:solidFill>
                <a:latin typeface="Segoe UI"/>
              </a:defRPr>
            </a:pPr>
            <a:r>
              <a:t>VOCALIS: Tri-Modal Speech Emotion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1400"/>
              </a:spcAft>
              <a:defRPr sz="3600" b="1">
                <a:solidFill>
                  <a:srgbClr val="38BDF8"/>
                </a:solidFill>
                <a:latin typeface="Segoe UI"/>
              </a:defRPr>
            </a:pPr>
            <a:r>
              <a:t>&amp; Sentiment Intelligence Platform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Bridging Biomechanical Prosody, Speech Foundation Models (Emotion2Vec+), and Single-Pass LLM Arbitration (Kev) for Multilingual Enterprise Audio within a 4 GB Edge VRAM Budget.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10728655" cy="96012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337560"/>
            <a:ext cx="64008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7472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PRESENTED BY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474720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POC FOCUS AREAS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0">
                <a:solidFill>
                  <a:srgbClr val="CBD5E1"/>
                </a:solidFill>
                <a:latin typeface="Segoe UI"/>
              </a:defRPr>
            </a:pPr>
            <a:r>
              <a:t>1. Research Summary, Shortlisted Options, Trade-offs &amp; Final Recommendations</a:t>
            </a:r>
            <a:br/>
            <a:r>
              <a:t>2. Concise Tech Stack Setup, Engineering Challenges &amp; 2,000-Clip + SER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2560320" cy="169164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61772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773168"/>
            <a:ext cx="223113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2100" b="1">
                <a:solidFill>
                  <a:srgbClr val="10B981"/>
                </a:solidFill>
                <a:latin typeface="Segoe UI"/>
              </a:defRPr>
            </a:pPr>
            <a:r>
              <a:t>83.3% / 96.7%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3-Way Sentiment Accuracy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t>83.3% overall (Kev-4B) &amp; 96.7% EN (Kev-0.8B) on 60-clip audited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4617720"/>
            <a:ext cx="2560320" cy="169164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4617720"/>
            <a:ext cx="25603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4773168"/>
            <a:ext cx="223113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2100" b="1">
                <a:solidFill>
                  <a:srgbClr val="38BDF8"/>
                </a:solidFill>
                <a:latin typeface="Segoe UI"/>
              </a:defRPr>
            </a:pPr>
            <a:r>
              <a:t>100% Sentiment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Japanese JVNV SER Validation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t>96.0% 8-emotion &amp; 100% 3-sentiment accuracy on Japanese emotional speech (+32% vs SER)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4617720"/>
            <a:ext cx="2560320" cy="169164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4617720"/>
            <a:ext cx="25603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4773168"/>
            <a:ext cx="223113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2100" b="1">
                <a:solidFill>
                  <a:srgbClr val="6366F1"/>
                </a:solidFill>
                <a:latin typeface="Segoe UI"/>
              </a:defRPr>
            </a:pPr>
            <a:r>
              <a:t>3.7x Faster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C++ CUDA GGUF Engine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t>Single forward-pass PointerHead (0 generated tokens) via llama-server.exe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4617720"/>
            <a:ext cx="2560320" cy="169164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256" y="461772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4773168"/>
            <a:ext cx="223113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2100" b="1">
                <a:solidFill>
                  <a:srgbClr val="F59E0B"/>
                </a:solidFill>
                <a:latin typeface="Segoe UI"/>
              </a:defRPr>
            </a:pPr>
            <a:r>
              <a:t>&lt; 4.0 GB VRAM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Zero-OOM Edge Orchestration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50" b="0">
                <a:solidFill>
                  <a:srgbClr val="94A3B8"/>
                </a:solidFill>
                <a:latin typeface="Segoe UI"/>
              </a:defRPr>
            </a:pPr>
            <a:r>
              <a:t>Staged load-infer-evict pipeline running ~5.2 GB of models on a 4 GB GTX 1650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FOUNDATIONS  |  SPEECH VS.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Words Alone Lie: How Audio Encodes True Human Emotion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Standard ASR transcripts strip away 70% of paralinguistic signal—making identical words mean opposite things.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2 of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3593592" cy="1874519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61872"/>
            <a:ext cx="359359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89888"/>
            <a:ext cx="326440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1. LEXICAL CONTENT (WHAT IS SAID)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The literal transcribed words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Captured by ASR (Faster-Whisper).</a:t>
            </a:r>
            <a:br/>
            <a:r>
              <a:t>Example: "Thank you so much for the help today."</a:t>
            </a:r>
            <a:br/>
            <a:r>
              <a:t>Risk: Polite words frequently mask frustration, sadness, or sarcasm.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261872"/>
            <a:ext cx="3593592" cy="1874519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261872"/>
            <a:ext cx="359359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1" y="1389888"/>
            <a:ext cx="326440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050" b="1">
                <a:solidFill>
                  <a:srgbClr val="F59E0B"/>
                </a:solidFill>
                <a:latin typeface="Segoe UI"/>
              </a:defRPr>
            </a:pPr>
            <a:r>
              <a:t>2. BIOMECHANICAL PROSODY (HOW IT IS SAID)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Physical vocal dynamics (Librosa)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Pitch contour (Hz &amp; slope), syllable speed (onsets/sec), vocal loudness (dB), and voice tremor.</a:t>
            </a:r>
            <a:br/>
            <a:r>
              <a:t>Reveals physical tension, sighing, or shouting.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261872"/>
            <a:ext cx="3593592" cy="1874519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261872"/>
            <a:ext cx="359359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1389888"/>
            <a:ext cx="326440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050" b="1">
                <a:solidFill>
                  <a:srgbClr val="6366F1"/>
                </a:solidFill>
                <a:latin typeface="Segoe UI"/>
              </a:defRPr>
            </a:pPr>
            <a:r>
              <a:t>3. DEEP ACOUSTIC TIMBRE (SER PRIOR)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Sub-lexical emotional resonance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Captured by Speech Foundation Models (Emotion2Vec+).</a:t>
            </a:r>
            <a:br/>
            <a:r>
              <a:t>Detects micro-modulations in vocal tract resonance across 1024-dim audio embeddings.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10128"/>
            <a:ext cx="11094415" cy="3017520"/>
          </a:xfrm>
          <a:prstGeom prst="roundRect">
            <a:avLst>
              <a:gd name="adj" fmla="val 3000"/>
            </a:avLst>
          </a:prstGeom>
          <a:solidFill>
            <a:srgbClr val="1A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REAL POC CASE STUDY: </a:t>
            </a:r>
            <a:r>
              <a:rPr sz="1100" b="1">
                <a:solidFill>
                  <a:srgbClr val="F8FAFC"/>
                </a:solidFill>
                <a:latin typeface="Segoe UI"/>
              </a:rPr>
              <a:t>One Exact Sentence — </a:t>
            </a:r>
            <a:r>
              <a:rPr sz="1200" b="1">
                <a:solidFill>
                  <a:srgbClr val="38BDF8"/>
                </a:solidFill>
                <a:latin typeface="Segoe UI"/>
              </a:rPr>
              <a:t>“Thank you so much for the help today.”</a:t>
            </a:r>
            <a:r>
              <a:rPr sz="1100" b="1">
                <a:solidFill>
                  <a:srgbClr val="F8FAFC"/>
                </a:solidFill>
                <a:latin typeface="Segoe UI"/>
              </a:rPr>
              <a:t> — Spoken in 3 Different Intonations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86200"/>
            <a:ext cx="3438144" cy="2267712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886200"/>
            <a:ext cx="64008" cy="22677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" y="4005072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POSITIVE SENTIMENT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297680"/>
            <a:ext cx="31546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5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INTONATION A: WARM &amp; APPRECIATIVE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Pitch: 225 Hz (rising terminal contour)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Tempo: 5.1 onsets/sec (lively, fluid pace)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Energy: 75 dB (warm resonant projection)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SER Prior: happy (94% confidence)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→ True State: satisfaction_gratitude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886200"/>
            <a:ext cx="3438144" cy="2267712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886200"/>
            <a:ext cx="64008" cy="22677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79" y="4005072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NEUTRAL SENTIMENT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297680"/>
            <a:ext cx="31546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5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INTONATION B: FLAT ROUTINE CLOSING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Pitch: 160 Hz (narrow std: 14 Hz, flat)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Tempo: 4.5 onsets/sec (standard business)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Energy: 70 dB (nominal conversational)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SER Prior: neutral (89% confidence)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→ True State: neutral_inquiry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46136" y="3886200"/>
            <a:ext cx="3438144" cy="2267712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46136" y="3886200"/>
            <a:ext cx="64008" cy="226771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0727" y="4005072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NEGATIVE SENTIMENT (FLIP)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4297680"/>
            <a:ext cx="31546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5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INTONATION C: SUBDUED / SARCASTIC (POC CLIP)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Pitch: 193 Hz (downward falling contour)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Tempo: 3.4 onsets/sec (slow, subdued pace)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SER Prior: sad (82% confidence)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Kev-4B Arbitration: Sarcasm = 57.2% (True)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→ True State: Negative (62.3% polarity)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FOUNDATIONS  |  ACOUSTICS &amp; PROSODY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How SER &amp; Biomechanical Prosody Decode Vocal Emotion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Vocalis pairs a neural Speech Foundation Model (Emotion2Vec+) with explicit physical DSP biomarkers (Librosa).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3 of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2029968" cy="1143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61872"/>
            <a:ext cx="2029968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71600"/>
            <a:ext cx="181051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800" b="1">
                <a:solidFill>
                  <a:srgbClr val="334155"/>
                </a:solidFill>
                <a:latin typeface="Segoe UI"/>
              </a:defRPr>
            </a:pPr>
            <a:r>
              <a:t>STAGE 1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Raw Audio (.wav)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16kHz Mono Signal</a:t>
            </a:r>
            <a:br/>
            <a:r>
              <a:t>Un-normalized &amp; Gain-Normalized Streams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15184" y="1719072"/>
            <a:ext cx="164592" cy="219456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6352" y="1261872"/>
            <a:ext cx="2029968" cy="1143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261872"/>
            <a:ext cx="2029968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371600"/>
            <a:ext cx="181051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800" b="1">
                <a:solidFill>
                  <a:srgbClr val="38BDF8"/>
                </a:solidFill>
                <a:latin typeface="Segoe UI"/>
              </a:defRPr>
            </a:pPr>
            <a:r>
              <a:t>STAGE 2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Silero VAD + Whisper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Spoken Segment Isolation</a:t>
            </a:r>
            <a:br/>
            <a:r>
              <a:t>Exact Multilingual Text Transcript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82896" y="1719072"/>
            <a:ext cx="164592" cy="219456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84064" y="1261872"/>
            <a:ext cx="2029968" cy="1143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261872"/>
            <a:ext cx="202996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1371600"/>
            <a:ext cx="181051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800" b="1">
                <a:solidFill>
                  <a:srgbClr val="F59E0B"/>
                </a:solidFill>
                <a:latin typeface="Segoe UI"/>
              </a:defRPr>
            </a:pPr>
            <a:r>
              <a:t>STAGE 3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Librosa Prosody DSP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Physical Vocal Biomarkers</a:t>
            </a:r>
            <a:br/>
            <a:r>
              <a:t>F0 Pitch, Tempo, dB Energy, Jitter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50607" y="1719072"/>
            <a:ext cx="164592" cy="219456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51775" y="1261872"/>
            <a:ext cx="2029968" cy="1143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775" y="1261872"/>
            <a:ext cx="202996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3" y="1371600"/>
            <a:ext cx="181051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800" b="1">
                <a:solidFill>
                  <a:srgbClr val="8B5CF6"/>
                </a:solidFill>
                <a:latin typeface="Segoe UI"/>
              </a:defRPr>
            </a:pPr>
            <a:r>
              <a:t>STAGE 4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Emotion2Vec+ Large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Deep Acoustic SER Prior</a:t>
            </a:r>
            <a:br/>
            <a:r>
              <a:t>1024-Dim Utterance Representation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19" y="1719072"/>
            <a:ext cx="164592" cy="219456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9488" y="1261872"/>
            <a:ext cx="2029968" cy="11430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19488" y="1261872"/>
            <a:ext cx="202996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9215" y="1371600"/>
            <a:ext cx="181051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800" b="1">
                <a:solidFill>
                  <a:srgbClr val="10B981"/>
                </a:solidFill>
                <a:latin typeface="Segoe UI"/>
              </a:defRPr>
            </a:pPr>
            <a:r>
              <a:t>STAGE 5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Kev Arbitrator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Tri-Modal Synthesis</a:t>
            </a:r>
            <a:br/>
            <a:r>
              <a:t>8 Emotions + Sarcasm + 3 Sentiments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2606040"/>
          <a:ext cx="1109441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03120"/>
                <a:gridCol w="2377440"/>
                <a:gridCol w="2377440"/>
                <a:gridCol w="2316175"/>
              </a:tblGrid>
              <a:tr h="7315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Acoustic Feature (Librosa)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What It Measures Physically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High / Elevated Signal Means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Low / Falling Signal Means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Why Neural SER Alone Isn't Enough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98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Pitch Contour (F0 Hz &amp; Slope)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Vocal cord vibration frequency (YIN algorithm) &amp; terminal trajectory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High F0 (&gt;210 Hz) / Wide Std (&gt;45 Hz):</a:t>
                      </a:r>
                      <a:br/>
                      <a:r>
                        <a:t>Urgency, Panic, Outrage, or Animated Joy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Falling Contour / Monotone (&lt;20 Hz std):</a:t>
                      </a:r>
                      <a:br/>
                      <a:r>
                        <a:t>Disappointed Sadness, Dejection, Sarcasm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Japanese broadcast pitch-accent naturally modulates F0, tricking SER into false 'happy' predictions.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98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Speech Tempo (Onsets / sec)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Syllable nuclei rate per second on silence-trimmed active speech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Rapid Pace (&gt;5.5 onsets/sec):</a:t>
                      </a:r>
                      <a:br/>
                      <a:r>
                        <a:t>Frantic Panic, Agitated Frustration, Hostility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Slow / Measured Pace (&lt;3.5 onsets/sec):</a:t>
                      </a:r>
                      <a:br/>
                      <a:r>
                        <a:t>Subdued Sadness, Reluctance, Ironic Drag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Leading/trailing mic silence artificially lowers tempo unless active speech is trimmed first.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98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Vocal Energy (RMS dB)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Root-Mean-Square acoustic pressure relative to baseline floor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High Intensity (&gt;78 dB):</a:t>
                      </a:r>
                      <a:br/>
                      <a:r>
                        <a:t>Shouting, Outrage, Escalated Confrontation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Subdued Delivery (&lt;65 dB):</a:t>
                      </a:r>
                      <a:br/>
                      <a:r>
                        <a:t>Defeated Sorrow, Quiet Resignation, Fatigue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Auto-gain normalization (300x boost) erases whisper/quiet cues unless DSP reads raw audio.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defRPr sz="98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Voice Quality (Jitter &amp; HNR)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Cycle-to-cycle pitch perturbation &amp; spectral centroid brightness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High Jitter / Vocal Tremor:</a:t>
                      </a:r>
                      <a:br/>
                      <a:r>
                        <a:t>Nervous Anxiety, Fear, Emotional Distress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Clean Modal Phonation:</a:t>
                      </a:r>
                      <a:br/>
                      <a:r>
                        <a:t>Calm Routine Inquiry or Controlled Sarcasm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Gives the LLM explicit physical descriptors ('tense', 'trembling') alongside numeric anchors.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TAXONOMY &amp; BUSINESS POLARITY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8 Canonical Emotions Mapped to 3-Way Actionable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Granular 8-way emotion detection rolls up into Positive, Neutral, and Negative business polarity with automatic sarcasm inversion.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4 of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3337560" cy="498348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33375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8132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POSITIVE SENTIMENT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28803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satisfaction_gratitude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Genuine client delight, relief, warm appreciation, and heartfelt gratitude.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Acoustic Signature: Warm resonant energy, fluid tempo, rising/animated pitch contour.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794760"/>
            <a:ext cx="2935224" cy="2240280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3794760"/>
            <a:ext cx="64008" cy="2240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F43F5E"/>
                </a:solidFill>
                <a:latin typeface="Segoe UI"/>
              </a:defRPr>
            </a:pPr>
            <a:r>
              <a:t>⚡ AUTOMATIC SARCASM FLIP RULE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When Kev detects polite gratitude words paired with negative vocal acoustics (sarcasm_detected ≥ 0.45):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satisfaction_gratitude + sarcasm_flag=True</a:t>
            </a:r>
            <a:br/>
            <a:r>
              <a:t>➔ Flips Polarity to NEGATIVE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6512" y="1280160"/>
            <a:ext cx="3154680" cy="498348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96512" y="1280160"/>
            <a:ext cx="3154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25112" y="1481328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0B1120"/>
                </a:solidFill>
                <a:latin typeface="Segoe UI"/>
              </a:defRPr>
            </a:pPr>
            <a:r>
              <a:t>NEUTRAL SENTIMENT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1874519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neutral_inquiry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Calm routine business inquiries, objective operational questions, and matter-of-fact reporting.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14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Acoustic Signature: Steady baseline F0 contour, standard conversational pace (4–5.5 onsets/sec), balanced modal phonation.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Business Action: Standard SLA routing; no compliance escalation required.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1504" y="1280160"/>
            <a:ext cx="4178808" cy="498348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1280160"/>
            <a:ext cx="4178808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90104" y="148132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NEGATIVE SENTIMENT (6 CLASSES)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874519"/>
            <a:ext cx="3776472" cy="640080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874519"/>
            <a:ext cx="64008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1929384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3. frustration_irritation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Impatient complaints, repeated friction, vocal exasperation &amp; tense tone.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62672" y="2587752"/>
            <a:ext cx="3776472" cy="640080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62672" y="2587752"/>
            <a:ext cx="64008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2642616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4. outrage_hostility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Extreme fury, shouting (&gt;78 dB), aggressive confrontation, legal threats.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3300984"/>
            <a:ext cx="3776472" cy="640080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3300984"/>
            <a:ext cx="64008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355848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5. disappointed_sad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Deep sorrow, emotional dejection, heavy sighing, falling pitch contour.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2672" y="4014215"/>
            <a:ext cx="3776472" cy="640080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62672" y="4014215"/>
            <a:ext cx="64008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4069079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6. sarcasm_passive_aggression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Ironic praise &amp; mocking cynicism concealing sharp anger or contempt.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62672" y="4727448"/>
            <a:ext cx="3776472" cy="640080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62672" y="4727448"/>
            <a:ext cx="64008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4782312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7. anxiety_confusion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Nervous vocal tremor (high jitter), worried uncertainty, helpless distress.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62672" y="5440680"/>
            <a:ext cx="3776472" cy="640080"/>
          </a:xfrm>
          <a:prstGeom prst="roundRect">
            <a:avLst>
              <a:gd name="adj" fmla="val 3000"/>
            </a:avLst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62672" y="5440680"/>
            <a:ext cx="64008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5495544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8. urgency_panic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94A3B8"/>
                </a:solidFill>
                <a:latin typeface="Segoe UI"/>
              </a:defRPr>
            </a:pPr>
            <a:r>
              <a:t>Critical crisis, frantic rapid speech (&gt;6 onsets/s), immediate freeze demand.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MAJOR FOCUS #1  |  RESEARCH &amp; ARCHITECTURE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Shortlisted Options Evaluated, Trade-Offs &amp; Selection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We benchmarked 5 distinct paradigms across accuracy, cross-lingual robustness, sarcasm resolution, and 4 GB VRAM feasibility.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5 of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9441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783080"/>
                <a:gridCol w="1325880"/>
                <a:gridCol w="1417320"/>
                <a:gridCol w="2359152"/>
                <a:gridCol w="2151583"/>
              </a:tblGrid>
              <a:tr h="83058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Shortlisted Option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Models Evaluated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Accuracy (EN / JA)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Latency &amp; VRAM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Key Trade-Offs Observed in POC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Final Verdict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8305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1. Standalone Acoustic SER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Emotion2Vec+ Large</a:t>
                      </a:r>
                      <a:br/>
                      <a:r>
                        <a:t>• ehcalabres XLSR-EN</a:t>
                      </a:r>
                      <a:br/>
                      <a:r>
                        <a:t>• Bagus XLSR-JA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EN: 75.7%–83.3%</a:t>
                      </a:r>
                      <a:br/>
                      <a:r>
                        <a:t>JA: 26.1%–26.7%</a:t>
                      </a:r>
                      <a:br/>
                      <a:r>
                        <a:t>(ehcalabres: 16.7%)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203 ms / clip</a:t>
                      </a:r>
                      <a:br/>
                      <a:r>
                        <a:t>~1.24 GB VRAM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Pros: Fast; 86.1% on acted SER (TESS/RAVDESS).</a:t>
                      </a:r>
                      <a:br/>
                      <a:r>
                        <a:t>Cons: Zero lexical understanding; collapses to 26.1% on Japanese due to pitch-accent bias.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 Reject as Standalone</a:t>
                      </a:r>
                      <a:br/>
                      <a:r>
                        <a:t>(Keep Emotion2Vec+ as Stage-2 Acoustic Prior)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</a:tr>
              <a:tr h="8305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2. Encoder Text+Audio Router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Laya mmBERT</a:t>
                      </a:r>
                      <a:br/>
                      <a:r>
                        <a:t>  (Multilingual Encoder)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EN: 66.7%</a:t>
                      </a:r>
                      <a:br/>
                      <a:r>
                        <a:t>JA: 66.7%</a:t>
                      </a:r>
                      <a:br/>
                      <a:r>
                        <a:t>Overall: 66.7%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112 ms / clip</a:t>
                      </a:r>
                      <a:br/>
                      <a:r>
                        <a:t>~0.95 GB VRAM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Pros: Ultra-low latency; balanced EN/JA.</a:t>
                      </a:r>
                      <a:br/>
                      <a:r>
                        <a:t>Cons: Shallow cross-attention; misses nuanced sarcasm and complex banking domain phrasing.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⚠️ Superseded</a:t>
                      </a:r>
                      <a:br/>
                      <a:r>
                        <a:t>(Outperformed by Kev-0.8B &amp; Kev-4B)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8305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3. Native Audio Omni LLM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Qwen2.5-Omni-3B</a:t>
                      </a:r>
                      <a:br/>
                      <a:r>
                        <a:t>  (Q4_K_M GGUF +</a:t>
                      </a:r>
                      <a:br/>
                      <a:r>
                        <a:t>  mmproj-Q8_0 GGUF)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Fails on subtle tone</a:t>
                      </a:r>
                      <a:br/>
                      <a:r>
                        <a:t>(Predicts 'happy' on sad/sarcastic clip)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23,670 ms / clip</a:t>
                      </a:r>
                      <a:br/>
                      <a:r>
                        <a:t>~3.64 GB Disk/VRAM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Pros: Direct audio-to-text architecture.</a:t>
                      </a:r>
                      <a:br/>
                      <a:r>
                        <a:t>Cons: Experimental llama.cpp mtmd audio projector loses prosody, hallucinates ASR, 10x slower.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 Reject for 4 GB Edge</a:t>
                      </a:r>
                      <a:br/>
                      <a:r>
                        <a:t>(Too slow &amp; quantized mmproj degrades tone)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</a:tr>
              <a:tr h="8305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4. Post-LLM Score Fusion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Linear / Confidence</a:t>
                      </a:r>
                      <a:br/>
                      <a:r>
                        <a:t>  Weighted Fusion of</a:t>
                      </a:r>
                      <a:br/>
                      <a:r>
                        <a:t>  SER + Kev Probs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60-Clip: 60.0%</a:t>
                      </a:r>
                      <a:br/>
                      <a:r>
                        <a:t>(Drops -18.3% vs</a:t>
                      </a:r>
                      <a:br/>
                      <a:r>
                        <a:t>Prompt Priming)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650–3,000 ms</a:t>
                      </a:r>
                      <a:br/>
                      <a:r>
                        <a:t>~1.2–2.4 GB VRAM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Pros: Boosts low-confidence acoustic clips.</a:t>
                      </a:r>
                      <a:br/>
                      <a:r>
                        <a:t>Cons: Double-counts SER and biases heavily toward Emotion2Vec+'s 95%-confident Japanese errors.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 Reject Late Fusion</a:t>
                      </a:r>
                      <a:br/>
                      <a:r>
                        <a:t>(Over-weights noisy SER priors on JA)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830580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5. Tri-Modal Prompt Priming + Kev (WINNER)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Whisper Turbo INT8</a:t>
                      </a:r>
                      <a:br/>
                      <a:r>
                        <a:t>• Emotion2Vec+ Large</a:t>
                      </a:r>
                      <a:br/>
                      <a:r>
                        <a:t>• Librosa DSP</a:t>
                      </a:r>
                      <a:br/>
                      <a:r>
                        <a:t>• Kev-4B / 0.8B GGUF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60-Clip: 78.3% Emo</a:t>
                      </a:r>
                      <a:br/>
                      <a:r>
                        <a:t>83.3% Sentiment</a:t>
                      </a:r>
                      <a:br/>
                      <a:r>
                        <a:t>JVNV-JA: 96% Emo /</a:t>
                      </a:r>
                      <a:br/>
                      <a:r>
                        <a:t>100% Sentiment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Kev-0.8B: 592 ms</a:t>
                      </a:r>
                      <a:br/>
                      <a:r>
                        <a:t>Kev-4B: 2,950 ms</a:t>
                      </a:r>
                      <a:br/>
                      <a:r>
                        <a:t>Fits &lt;4 GB via Eviction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Pros: Single forward-pass PointerHead (0 tokens generated); resolves vocal-lexical sarcasm; +32% over SER on Japanese emotional speech.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ADOPTED FOR PROD</a:t>
                      </a:r>
                      <a:br/>
                      <a:r>
                        <a:t>(Kev-4B for Accuracy;</a:t>
                      </a:r>
                      <a:br/>
                      <a:r>
                        <a:t>Kev-0.8B for Speed)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CORE INNOVATION  |  TRI-MODAL ARBITRAGE &amp;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Inside the Kev SystemOne Prompt &amp; Single-Pass PointerHead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Instead of generating slow text tokens, Kev reads the tri-modal state in one forward pass and outputs calibrated probabilities.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6 of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669280" cy="498348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5669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417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EXACT TRI-MODAL PROMPT (`state`) SENT TO `/v1/systemone`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525780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F8FAFC"/>
                </a:solidFill>
                <a:latin typeface="Consolas"/>
              </a:defRPr>
            </a:pPr>
            <a:r>
              <a:t>Speaker transcript: 「Thank you so much for the help today.」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F43F5E"/>
                </a:solidFill>
                <a:latin typeface="Consolas"/>
              </a:defRPr>
            </a:pPr>
            <a:r>
              <a:t>Acoustic speech emotion prior: sad (confidence: 82%)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0">
                <a:solidFill>
                  <a:srgbClr val="F59E0B"/>
                </a:solidFill>
                <a:latin typeface="Consolas"/>
              </a:defRPr>
            </a:pPr>
            <a:r>
              <a:t>Prosodic acoustic features: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80" b="0">
                <a:solidFill>
                  <a:srgbClr val="CBD5E1"/>
                </a:solidFill>
                <a:latin typeface="Consolas"/>
              </a:defRPr>
            </a:pPr>
            <a:r>
              <a:t>- Pitch contour: 193.0 Hz (std: 49.0 Hz, downward falling terminal contour)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80" b="0">
                <a:solidFill>
                  <a:srgbClr val="CBD5E1"/>
                </a:solidFill>
                <a:latin typeface="Consolas"/>
              </a:defRPr>
            </a:pPr>
            <a:r>
              <a:t>- Speech tempo: 3.4 onsets/sec (slow / measured / subdued pace)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80" b="0">
                <a:solidFill>
                  <a:srgbClr val="CBD5E1"/>
                </a:solidFill>
                <a:latin typeface="Consolas"/>
              </a:defRPr>
            </a:pPr>
            <a:r>
              <a:t>- Energy &amp; vocal intensity: 73.5 dB (moderate baseline business volume)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1000"/>
              </a:spcAft>
              <a:defRPr sz="880" b="0">
                <a:solidFill>
                  <a:srgbClr val="CBD5E1"/>
                </a:solidFill>
                <a:latin typeface="Consolas"/>
              </a:defRPr>
            </a:pPr>
            <a:r>
              <a:t>- Voice quality: standard modal phonation, clean harmonic structure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QUESTIONS SCHEMA (`IB_QUESTIONS`):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Consolas"/>
              </a:defRPr>
            </a:pPr>
            <a:r>
              <a:t>1. detected_emotion (type: 'choice' -&gt; 8 canonical criteria):</a:t>
            </a:r>
            <a:br/>
            <a:r>
              <a:t>   "Analyze the caller's spoken statement in the full context of their vocal acoustics and delivery. Resolve any tension between the words and vocal tone (e.g. sarcasm, polite complaints, subdued relief)."</a:t>
            </a:r>
            <a:br/>
            <a:r>
              <a:t>2. sarcasm_detected (type: 'noul' -&gt; binary probability [0,1]):</a:t>
            </a:r>
            <a:br/>
            <a:r>
              <a:t>   "Is the speaker using sarcasm, irony, or passive-aggressive politeness that contradicts their vocal tone?"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242255" cy="233172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52422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41732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WHY BOTH NUMBERS &amp; NATURAL LANGUAGE LABELS?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• Natural Language Labels Drive Semantic Attention: Pre-trained Qwen3.5 weights natively understand phrases like "downward falling terminal contour" and "slow / measured / subdued pace".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• Numeric Anchors Act as Relative Magnitude Scalars: While LLMs aren't calibrated DSP calculators on raw Hz alone, seeing `confidence: 82%` vs `45%` or `85 dB` vs `60 dB` provides relative intensity scaling.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0">
                <a:solidFill>
                  <a:srgbClr val="38BDF8"/>
                </a:solidFill>
                <a:latin typeface="Segoe UI"/>
              </a:defRPr>
            </a:pPr>
            <a:r>
              <a:t>• Zero Inference Penalty: Because Kev's PointerHead performs 1 prefill pass (0 autoregressive tokens), extra descriptive tokens cost &lt;1 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67328"/>
            <a:ext cx="5242255" cy="2496312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67328"/>
            <a:ext cx="524225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3904487"/>
            <a:ext cx="48463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HOW KEV-4B ARBITRATES THIS EXACT RECORDING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1. Detects Lexical-Acoustic Conflict: Polite surface words ("Thank you so much") clash with `sad (82%)` + `downward falling contour`.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2. Suppresses Overconfidence: Drops `satisfaction_gratitude` confidence from 0.912 (unprimed) down to 0.368, shifting 26.8% mass to `disappointed_sad` (19.0%) + `sarcasm` (7.8%).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1">
                <a:solidFill>
                  <a:srgbClr val="F43F5E"/>
                </a:solidFill>
                <a:latin typeface="Segoe UI"/>
              </a:defRPr>
            </a:pPr>
            <a:r>
              <a:t>3. Fires Sarcasm Head (`noul = 0.5715`): Sets `sarcasm_flag = True`, flipping final 3-way sentiment polarity to NEGATIVE (62.25%).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RESEARCH FINDINGS  |  PRIMING VS. FUSION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Prompt Priming Beats Post-LLM Mathematical Score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Controlled ablation experiments prove Kev needs the SER prior inside its prompt—and why post-LLM fusion biases toward SER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7 of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9441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280160"/>
                <a:gridCol w="1463040"/>
                <a:gridCol w="1554480"/>
                <a:gridCol w="1554480"/>
                <a:gridCol w="2590495"/>
              </a:tblGrid>
              <a:tr h="57607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Ablation Configuration (Kev-4B)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Kev Confidence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Sarcasm (`noul`)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Top Emotion Dist.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3-Way Sentiment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Mathematical / Attention Behavior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A. Prosody Labels Only</a:t>
                      </a:r>
                      <a:br/>
                      <a:r>
                        <a:t>(No SER Prior, No Fusion)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0.9123</a:t>
                      </a:r>
                      <a:br/>
                      <a:r>
                        <a:t>(Overconfident)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15.9% (False) ❌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92.3% Gratitude</a:t>
                      </a:r>
                      <a:br/>
                      <a:r>
                        <a:t>1.4% Sad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Positive (92.3%) ❌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Without the 'sad (82%)' SER prior, polite text overwhelms soft prosody adjectives.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B. Prosody Labels Only</a:t>
                      </a:r>
                      <a:br/>
                      <a:r>
                        <a:t>+ Late Math Fusion w/ SER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0.9123 vs</a:t>
                      </a:r>
                      <a:br/>
                      <a:r>
                        <a:t>0.8204 (SER)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15.9% (False) ❌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65.3% Gratitude</a:t>
                      </a:r>
                      <a:br/>
                      <a:r>
                        <a:t>28.1% Sad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Positive (65.3%) ❌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Because unprimed Kev is 91.2% confident, 70/30 late fusion still lets 'Gratitude' win.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C. SER Priming + Late Math Fusion</a:t>
                      </a:r>
                      <a:br/>
                      <a:r>
                        <a:t>(Double-Counting SER)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0.3683 vs</a:t>
                      </a:r>
                      <a:br/>
                      <a:r>
                        <a:t>0.8204 (SER)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57.2% (True) ✅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62.5% Sad</a:t>
                      </a:r>
                      <a:br/>
                      <a:r>
                        <a:t>13.9% Gratitude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Negative ✅</a:t>
                      </a:r>
                      <a:br/>
                      <a:r>
                        <a:t>(But Biased!)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Double-counts SER! Drops 60-clip benchmark from 78.3% to 60.0% due to JA SER errors.</a:t>
                      </a:r>
                    </a:p>
                  </a:txBody>
                  <a:tcPr anchor="ctr" marL="91440" marR="91440" marT="45720" marB="45720">
                    <a:solidFill>
                      <a:srgbClr val="131C31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defRPr sz="919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D. Tri-Modal Prompt Priming</a:t>
                      </a:r>
                      <a:br/>
                      <a:r>
                        <a:t>+ 3-Sentiment Rollup (PROD)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0.3683</a:t>
                      </a:r>
                      <a:br/>
                      <a:r>
                        <a:t>(Calibrated)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57.2% (True) ✅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44.7% Grat (Sarc)</a:t>
                      </a:r>
                      <a:br/>
                      <a:r>
                        <a:t>19.0% Sad / 7.8% Sarc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Negative (62.3%) ✅</a:t>
                      </a:r>
                      <a:br/>
                      <a:r>
                        <a:t>(Unbiased!)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Sarcasm flag flips sentiment to Negative while preserving 78.3% / 83.3% benchmark accuracy!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343400"/>
            <a:ext cx="5440680" cy="192024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343400"/>
            <a:ext cx="64008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462272"/>
            <a:ext cx="50749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F43F5E"/>
                </a:solidFill>
                <a:latin typeface="Segoe UI"/>
              </a:defRPr>
            </a:pPr>
            <a:r>
              <a:t>WHY LATE MATHEMATICAL FUSION IS DANGEROUS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• In Japanese financial broadcasts, speakers use formal politeness with wide pitch-accent modulation.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• Emotion2Vec+ hallucinates `happy` with 85%–99% confidence on 73.9% of Japanese clips.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1">
                <a:solidFill>
                  <a:srgbClr val="F59E0B"/>
                </a:solidFill>
                <a:latin typeface="Segoe UI"/>
              </a:defRPr>
            </a:pPr>
            <a:r>
              <a:t>• If we fuse probabilities after Kev, a 95%-confident wrong SER score overrides Kev's correct neutral/frustrated arbitration!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343400"/>
            <a:ext cx="5440680" cy="192024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4343400"/>
            <a:ext cx="6400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462272"/>
            <a:ext cx="50749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WHY EARLY PROMPT PRIMING + SENTIMENT ROLLUP WINS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• Inside Kev's transformer layers, self-attention weighs the SER prior against the transcript and Librosa prosody.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0">
                <a:solidFill>
                  <a:srgbClr val="CBD5E1"/>
                </a:solidFill>
                <a:latin typeface="Segoe UI"/>
              </a:defRPr>
            </a:pPr>
            <a:r>
              <a:t>• When Japanese text is purely informational, Kev ignores false `happy` SER priors.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80" b="1">
                <a:solidFill>
                  <a:srgbClr val="38BDF8"/>
                </a:solidFill>
                <a:latin typeface="Segoe UI"/>
              </a:defRPr>
            </a:pPr>
            <a:r>
              <a:t>• When English text is polite (`Thank you`) but acoustics are `sad (82%)` + `falling pitch`, Kev-4B triggers `sarcasm_flag = True` and flips sentiment to Negative!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MAJOR FOCUS #2  |  TECH STACK &amp; EDGE HARDWARE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Concise Setup, Tech Stack &amp; 4 GB VRAM Sequential Eviction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Running ~5.2 GB of neural weights on a 4.0 GB NVIDIA GTX 1650 with zero OOMs via deterministic 4-stage GPU eviction.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8 of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2651760" cy="242316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26517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408176"/>
            <a:ext cx="235915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STAGE 1: ASR &amp; VAD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Faster-Whisper Large-v3 Turbo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19" b="0">
                <a:solidFill>
                  <a:srgbClr val="CBD5E1"/>
                </a:solidFill>
                <a:latin typeface="Segoe UI"/>
              </a:defRPr>
            </a:pPr>
            <a:r>
              <a:t>• Compute: INT8-FP16 (CTranslate2)</a:t>
            </a:r>
            <a:br/>
            <a:r>
              <a:t>• VRAM Peak: 1,120 MB</a:t>
            </a:r>
            <a:br/>
            <a:r>
              <a:t>• Speed: 0.35x RTF (2.9x real-time)</a:t>
            </a:r>
            <a:br/>
            <a:r>
              <a:t>• Action: Transcribe + Silero VAD</a:t>
            </a:r>
            <a:br/>
            <a:r>
              <a:t>➔ del model + torch.cuda.empty_cache()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280160"/>
            <a:ext cx="2651760" cy="242316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2801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408176"/>
            <a:ext cx="235915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STAGE 2: ACOUSTIC + DSP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Emotion2Vec+ Large + Librosa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19" b="0">
                <a:solidFill>
                  <a:srgbClr val="CBD5E1"/>
                </a:solidFill>
                <a:latin typeface="Segoe UI"/>
              </a:defRPr>
            </a:pPr>
            <a:r>
              <a:t>• Compute: PyTorch FP16 + CPU DSP</a:t>
            </a:r>
            <a:br/>
            <a:r>
              <a:t>• VRAM Peak: 1,240 MB</a:t>
            </a:r>
            <a:br/>
            <a:r>
              <a:t>• Speed: 203 ms SER + 55 ms DSP</a:t>
            </a:r>
            <a:br/>
            <a:r>
              <a:t>• Action: Dual-stream raw/norm audio</a:t>
            </a:r>
            <a:br/>
            <a:r>
              <a:t>➔ del model + torch.cuda.empty_cache()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280160"/>
            <a:ext cx="2651760" cy="242316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280160"/>
            <a:ext cx="26517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408176"/>
            <a:ext cx="235915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STAGE 3: LLM ARBITRATION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Kev-4B INT4 / Kev-0.8B Q8_0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19" b="0">
                <a:solidFill>
                  <a:srgbClr val="CBD5E1"/>
                </a:solidFill>
                <a:latin typeface="Segoe UI"/>
              </a:defRPr>
            </a:pPr>
            <a:r>
              <a:t>• Compute: C++ CUDA llama-server.exe</a:t>
            </a:r>
            <a:br/>
            <a:r>
              <a:t>• VRAM Peak: 2,410 MB (4B) / 803 MB</a:t>
            </a:r>
            <a:br/>
            <a:r>
              <a:t>• Speed: Single forward pass (/v1/systemone)</a:t>
            </a:r>
            <a:br/>
            <a:r>
              <a:t>• Action: 8-Emotion + Sarcasm readout</a:t>
            </a:r>
            <a:br/>
            <a:r>
              <a:t>➔ Terminate subprocess / Evict VRAM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280160"/>
            <a:ext cx="2651760" cy="242316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28016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08176"/>
            <a:ext cx="235915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STAGE 4: TEMPORAL UI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Time-Weighted Synthesis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19" b="0">
                <a:solidFill>
                  <a:srgbClr val="CBD5E1"/>
                </a:solidFill>
                <a:latin typeface="Segoe UI"/>
              </a:defRPr>
            </a:pPr>
            <a:r>
              <a:t>• Compute: Host CPU (0 MB VRAM)</a:t>
            </a:r>
            <a:br/>
            <a:r>
              <a:t>• Backend: FastAPI Async REST API</a:t>
            </a:r>
            <a:br/>
            <a:r>
              <a:t>• Frontend: React 19 + TypeScript + Vite</a:t>
            </a:r>
            <a:br/>
            <a:r>
              <a:t>• Action: Duration-weighted emotion &amp; 3-way sentiment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5486400" cy="23774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64008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005072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CONCISE 4-STEP SETUP &amp; DEPLOYMENT WORKFLOW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1. Environment &amp; CUDA Runtime: Python 3.11 venv + PyTorch 2.6 (CUDA 12.4) + CTranslate2 (`int8_float16`) + FunASR + Librosa.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2. Pre-Quantized GGUF Checkpoints (`data/models/`): Place `Kev-4B-Q4_K_M.gguf` (2.4 GB) &amp; `Kev-0.8B-Q8_0.gguf` (803 MB) paired with custom `tools/llama/llama-server.exe` (`/v1/systemone` PointerHead).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3. Launch Backend API: `python -m uvicorn backend.app:app --port 8000` (auto-manages GPU staging &amp; audio normalization).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4. Launch Studio UI: `cd web &amp;&amp; npm run dev -- --port 5173` (Live Mic Studio, Clip Inspector, 2,000-Clip Explorer).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86200"/>
            <a:ext cx="5425135" cy="237744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86200"/>
            <a:ext cx="64008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005072"/>
            <a:ext cx="502920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PRODUCTION TECH STACK MATRIX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Speech-to-Text (ASR): `deepdml/faster-whisper-large-v3-turbo-ct2` (INT8-FP16) + Silero VAD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Acoustic SER Foundation: `iic/emotion2vec_plus_large` (ModelScope / FunASR 1024-dim)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Biomechanical DSP: `Librosa` + `SoundFile` (YIN F0 pitch slope, RMS dB, Onset tempo, Jitter)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Decision Arbitrator: `Kev-4B` (Q4_K_M GGUF) &amp; `Kev-0.8B` (Q8_0 GGUF) via C++ CUDA `llama.cpp`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• Full-Stack Application: FastAPI + Uvicorn (Backend) | React 19 + TypeScript + Tailwind CSS (UI)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QUANTITATIVE EVALUATION  |  BENCHMARKS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Comprehensive Benchmark Suite: Enterprise &amp; SER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Evaluated across 2,000 multilingual business clips (Earnings22 + ReazonSpeech) and 122 gold-standard SER validation clips.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9 of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5577840" cy="50292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61872"/>
            <a:ext cx="55778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A. MULTILINGUAL ENTERPRISE BENCHMARKS (60 &amp; 2,000 CLIPS)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737360"/>
          <a:ext cx="53035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9728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Dataset / Model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8-Emotion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3-Sentiment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EN / JA Sent.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60-Clip: Emotion2Vec+ (SER Only)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55.0%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63.3%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93.3% / 33.3%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60-Clip: Vocalis + Kev-0.8B INT4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70.0%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75.0%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96.7% / 53.3%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60-Clip: Vocalis + Kev-4B INT4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78.3%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83.3%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90.0% / 76.7%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60-Clip: Best Per-Language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80.0%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86.7%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96.7% / 76.7%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2,000-Clip: Emotion2Vec+ (SER)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50.90%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55.15%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82.7% / 27.6%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88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2,000-Clip: Vocalis Best (4B/0.8B)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63.05%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67.60%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8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84.3% / 50.9%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5394960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CBD5E1"/>
                </a:solidFill>
                <a:latin typeface="Segoe UI"/>
              </a:defRPr>
            </a:pPr>
            <a:r>
              <a:t>• On Japanese ReazonSpeech (1,000 clips), Vocalis boosts accuracy from 26.1% (SER) to 49.1% Emotion / 50.9% Sentiment (+23.0% gain).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00" b="0">
                <a:solidFill>
                  <a:srgbClr val="10B981"/>
                </a:solidFill>
                <a:latin typeface="Segoe UI"/>
              </a:defRPr>
            </a:pPr>
            <a:r>
              <a:t>• On English Earnings22 (1,000 clips), Kev-4B reaches 84.30% 3-Way Sentiment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61872"/>
            <a:ext cx="5333695" cy="50292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61872"/>
            <a:ext cx="5333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B. ACTUAL SER VALIDATION SETS (122 HUMAN-ACTED CLIPS)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46520" y="1737360"/>
          <a:ext cx="5059375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115568"/>
                <a:gridCol w="1115568"/>
                <a:gridCol w="1136599"/>
              </a:tblGrid>
              <a:tr h="52578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SER Corpus (Clips)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Emotion2Vec+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Kev-0.8B Q8_0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Kev-4B INT4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defRPr sz="86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JVNV-JA (25 Japanese)</a:t>
                      </a:r>
                      <a:br/>
                      <a:r>
                        <a:t>Free-Form Emotional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64.0% Emo</a:t>
                      </a:r>
                      <a:br/>
                      <a:r>
                        <a:t>88.0% Sent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92.0% Emo</a:t>
                      </a:r>
                      <a:br/>
                      <a:r>
                        <a:t>96.0% Sent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96.0% Emo ✅</a:t>
                      </a:r>
                      <a:br/>
                      <a:r>
                        <a:t>100.0% Sent ✅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defRPr sz="86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TESS (36 English)</a:t>
                      </a:r>
                      <a:br/>
                      <a:r>
                        <a:t>'Say the word &lt;X&gt;'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100.0% Emo</a:t>
                      </a:r>
                      <a:br/>
                      <a:r>
                        <a:t>100.0% Sent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36.1% Emo</a:t>
                      </a:r>
                      <a:br/>
                      <a:r>
                        <a:t>41.7% Sent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91.7% Emo ✅</a:t>
                      </a:r>
                      <a:br/>
                      <a:r>
                        <a:t>86.1% Sent ✅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defRPr sz="86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SAVEE (25 English)</a:t>
                      </a:r>
                      <a:br/>
                      <a:r>
                        <a:t>Neutral Carrier Text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84.0% Emo</a:t>
                      </a:r>
                      <a:br/>
                      <a:r>
                        <a:t>88.0% Sent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20.0% Emo</a:t>
                      </a:r>
                      <a:br/>
                      <a:r>
                        <a:t>48.0% Sent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48.0% Emo</a:t>
                      </a:r>
                      <a:br/>
                      <a:r>
                        <a:t>72.0% Sent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defRPr sz="86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RAVDESS (36 English)</a:t>
                      </a:r>
                      <a:br/>
                      <a:r>
                        <a:t>'Dogs are sitting...'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88.9% Emo</a:t>
                      </a:r>
                      <a:br/>
                      <a:r>
                        <a:t>97.2% Sent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30.6% Emo</a:t>
                      </a:r>
                      <a:br/>
                      <a:r>
                        <a:t>30.6% Sent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52.8% Emo</a:t>
                      </a:r>
                      <a:br/>
                      <a:r>
                        <a:t>55.6% Sent</a:t>
                      </a:r>
                    </a:p>
                  </a:txBody>
                  <a:tcPr anchor="ctr" marL="91440" marR="91440" marT="45720" marB="45720">
                    <a:solidFill>
                      <a:srgbClr val="0B112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defRPr sz="86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OVERALL (122 Clips)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86.1% Emo</a:t>
                      </a:r>
                      <a:br/>
                      <a:r>
                        <a:t>94.3% Sent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42.6% Emo</a:t>
                      </a:r>
                      <a:br/>
                      <a:r>
                        <a:t>50.8% Sent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72.1% Emo</a:t>
                      </a:r>
                      <a:br/>
                      <a:r>
                        <a:t>77.1% Sent</a:t>
                      </a:r>
                    </a:p>
                  </a:txBody>
                  <a:tcPr anchor="ctr" marL="91440" marR="91440" marT="45720" marB="45720">
                    <a:solidFill>
                      <a:srgbClr val="1A264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92240" y="502920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• JVNV-JA Breakthrough: On natural Japanese emotional speech, Kev-4B reaches 96.0% Emotion &amp; 100.0% Sentiment (vs 64.0% / 88.0% for standalone SER).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00" b="0">
                <a:solidFill>
                  <a:srgbClr val="CBD5E1"/>
                </a:solidFill>
                <a:latin typeface="Segoe UI"/>
              </a:defRPr>
            </a:pPr>
            <a:r>
              <a:t>• TESS Carrier Phrase Test: Even when text is 100% neutral ('Say the word ripe'), Kev-4B achieves 91.7% accuracy (+55.6% over Kev-0.8B) by trusting high-confidence acoustic priors.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MAJOR FOCUS #2  |  ENGINEERING CHALLENGES &amp; POC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Key Challenges Faced &amp; Technical Observations from the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Five critical failure modes uncovered during real-audio testing and how each was systematically resolved.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10 of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11094415" cy="932688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61872"/>
            <a:ext cx="64008" cy="9326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335024"/>
            <a:ext cx="2834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F43F5E"/>
                </a:solidFill>
                <a:latin typeface="Segoe UI"/>
              </a:defRPr>
            </a:pPr>
            <a:r>
              <a:t>CHALLENGE #1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1. 300x RMS Gain Normalization Destroyed Prosody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335024"/>
            <a:ext cx="39776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94A3B8"/>
                </a:solidFill>
                <a:latin typeface="Segoe UI"/>
              </a:defRPr>
            </a:pPr>
            <a:r>
              <a:t>POC OBSERVATION / ROOT CAUSE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Live mic recordings had low raw amplitude (RMS ~0.0002). Applying a 300x gain boost before feature extraction inflated quiet sad speech to 75.8 dB and boosted ambient room noise, causing Librosa to hallucinate '6.5 onsets/sec (rapid pace)' and 'loud volume'.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335024"/>
            <a:ext cx="37033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10B981"/>
                </a:solidFill>
                <a:latin typeface="Segoe UI"/>
              </a:defRPr>
            </a:pPr>
            <a:r>
              <a:t>ENGINEERING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Implemented Dual-Stream Audio Routing: `Librosa` extracts physical prosody from the raw un-normalized waveform (+ silence trimming), while `Whisper` &amp; `Emotion2Vec+` receive the gain-normalized waveform.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76856"/>
            <a:ext cx="11094415" cy="932688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276856"/>
            <a:ext cx="64008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350008"/>
            <a:ext cx="2834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F59E0B"/>
                </a:solidFill>
                <a:latin typeface="Segoe UI"/>
              </a:defRPr>
            </a:pPr>
            <a:r>
              <a:t>CHALLENGE #2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2. Bilingual SER Label Leakage ('难过/sad')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350008"/>
            <a:ext cx="39776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94A3B8"/>
                </a:solidFill>
                <a:latin typeface="Segoe UI"/>
              </a:defRPr>
            </a:pPr>
            <a:r>
              <a:t>POC OBSERVATION / ROOT CAUSE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ModelScope's `Emotion2Vec+ Large` outputs bilingual Chinese/English labels (`'难过/sad'`, `'生气/angry'`). Passing raw unsplit strings into the English Kev prompt weakened cross-modal conditioning in Live Studio.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350008"/>
            <a:ext cx="37033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10B981"/>
                </a:solidFill>
                <a:latin typeface="Segoe UI"/>
              </a:defRPr>
            </a:pPr>
            <a:r>
              <a:t>ENGINEERING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Added `clean_e2v_label()` in `vocalis_segmented_pipeline.py` to strip Chinese prefixes and map `&lt;unk&gt;`/`other` to canonical English emotion tokens before prompt formatting.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91840"/>
            <a:ext cx="11094415" cy="932688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91840"/>
            <a:ext cx="64008" cy="9326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64992"/>
            <a:ext cx="2834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6366F1"/>
                </a:solidFill>
                <a:latin typeface="Segoe UI"/>
              </a:defRPr>
            </a:pPr>
            <a:r>
              <a:t>CHALLENGE #3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3. 4 GB VRAM Ceiling &amp; PyTorch CUDA Fragmentation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364992"/>
            <a:ext cx="39776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94A3B8"/>
                </a:solidFill>
                <a:latin typeface="Segoe UI"/>
              </a:defRPr>
            </a:pPr>
            <a:r>
              <a:t>POC OBSERVATION / ROOT CAUSE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Simultaneously loading Whisper + Emotion2Vec+ + Kev-4B requires ~5.2 GB VRAM (crashing a 4 GB GTX 1650). Moreover, PyTorch retains ~500 MB of reserved CUDA context even after `empty_cache()`, and Windows Triton absence slowed NF4 by 3.7x.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364992"/>
            <a:ext cx="37033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10B981"/>
                </a:solidFill>
                <a:latin typeface="Segoe UI"/>
              </a:defRPr>
            </a:pPr>
            <a:r>
              <a:t>ENGINEERING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Built deterministic `evict_vram()` staging between models and offloaded Stage-3 Kev inference to an isolated C++ `llama-server.exe` process using pre-quantized GGUF checkpoints (`3.7x` speedup).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06824"/>
            <a:ext cx="11094415" cy="932688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06824"/>
            <a:ext cx="64008" cy="9326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79976"/>
            <a:ext cx="2834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38BDF8"/>
                </a:solidFill>
                <a:latin typeface="Segoe UI"/>
              </a:defRPr>
            </a:pPr>
            <a:r>
              <a:t>CHALLENGE #4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4. Japanese Pitch-Accent Acoustic Hallucinations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379976"/>
            <a:ext cx="39776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94A3B8"/>
                </a:solidFill>
                <a:latin typeface="Segoe UI"/>
              </a:defRPr>
            </a:pPr>
            <a:r>
              <a:t>POC OBSERVATION / ROOT CAUSE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Standalone `Emotion2Vec+` failed on 73.9% of Japanese broadcasts (`26.1%` accuracy), predicting `happy` with 85%–99% confidence because standard Japanese pitch-accent modulation resembles Western happy intonation.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379976"/>
            <a:ext cx="37033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10B981"/>
                </a:solidFill>
                <a:latin typeface="Segoe UI"/>
              </a:defRPr>
            </a:pPr>
            <a:r>
              <a:t>ENGINEERING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Proved that Early Prompt Priming allows Kev to override false `happy` SER priors using the Japanese transcript, whereas Late Mathematical Fusion gets overpowered by SER's false 95% confidence.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21808"/>
            <a:ext cx="11094415" cy="932688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321808"/>
            <a:ext cx="64008" cy="9326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94960"/>
            <a:ext cx="2834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10B981"/>
                </a:solidFill>
                <a:latin typeface="Segoe UI"/>
              </a:defRPr>
            </a:pPr>
            <a:r>
              <a:t>CHALLENGE #5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5. Model Capacity Threshold for Sarcasm (0.8B vs 4B)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394960"/>
            <a:ext cx="39776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94A3B8"/>
                </a:solidFill>
                <a:latin typeface="Segoe UI"/>
              </a:defRPr>
            </a:pPr>
            <a:r>
              <a:t>POC OBSERVATION / ROOT CAUSE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On polite sarcastic speech ('Thank you so much' spoken sadly), `Kev-0.8B` anchored to the positive words (`83.1%` confidence, `19.6%` sarcasm), and `Qwen2.5-Omni-3B` GGUF (`mtmd`) lost prosodic nuance (`23.6s` latency).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394960"/>
            <a:ext cx="37033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800" b="1">
                <a:solidFill>
                  <a:srgbClr val="10B981"/>
                </a:solidFill>
                <a:latin typeface="Segoe UI"/>
              </a:defRPr>
            </a:pPr>
            <a:r>
              <a:t>ENGINEERING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880" b="0">
                <a:solidFill>
                  <a:srgbClr val="CBD5E1"/>
                </a:solidFill>
                <a:latin typeface="Segoe UI"/>
              </a:defRPr>
            </a:pPr>
            <a:r>
              <a:t>Adopted `Kev-4B INT4 (Q4_K_M GGUF)` as the default Live Studio arbitrator—its 4B backbone resolves vocal-lexical conflict (`sarcasm = 57.2%`) and flips sentiment polarity to Negative (`62.3%`).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MAJOR FOCUS #1  |  EXECUTIVE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Final Recommendations &amp; Production 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Actionable architectural decisions validated by our 2,000-clip enterprise benchmark and 122-clip SER validation suite.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VOCALIS  |  Multimodal Speech Emotion &amp; Sentiment Intelligence POC  |  Presenters: Vaibhav &amp; Balram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041855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11 of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5449824" cy="20574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98448"/>
            <a:ext cx="544982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1463039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RECOMMENDATION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504748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Standardize on Tri-Modal Prompt Priming with Kev-4B INT4 (GGUF) for Live &amp; High-Stakes Calls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30" b="0">
                <a:solidFill>
                  <a:srgbClr val="CBD5E1"/>
                </a:solidFill>
                <a:latin typeface="Segoe UI"/>
              </a:defRPr>
            </a:pPr>
            <a:r>
              <a:t>• Deploy `Kev-4B-Q4_K_M.gguf` via C++ `llama-server.exe` as the primary production arbitrator.</a:t>
            </a:r>
            <a:br/>
            <a:r>
              <a:t>• Delivers 83.3% 3-way sentiment accuracy on audited EN/JA calls, 100% sentiment / 96% emotion on Japanese `JVNV-JA`, and 91.7% on `TESS`.</a:t>
            </a:r>
            <a:br/>
            <a:r>
              <a:t>• Crucial for catching subtle sarcasm and vocal-lexical contradictions where 0.8B models anchor too heavily on polite 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298448"/>
            <a:ext cx="5449824" cy="20574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298448"/>
            <a:ext cx="544982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82512" y="1463039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RECOMMENDATION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55648"/>
            <a:ext cx="504748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Use Kev-0.8B (Q8_0 GGUF) as a High-Throughput Tier for Bulk Historical Archival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30" b="0">
                <a:solidFill>
                  <a:srgbClr val="CBD5E1"/>
                </a:solidFill>
                <a:latin typeface="Segoe UI"/>
              </a:defRPr>
            </a:pPr>
            <a:r>
              <a:t>• For batch processing millions of historical call recordings where sub-second throughput is prioritized, deploy `Kev-0.8B-Q8_0.gguf`.</a:t>
            </a:r>
            <a:br/>
            <a:r>
              <a:t>• Achieves 1.51 clips/sec (592 ms/clip) in only 803 MB VRAM while maintaining 83.4% English sentiment accuracy across 1,000 Earnings22 clips.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38728"/>
            <a:ext cx="5449824" cy="20574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38728"/>
            <a:ext cx="544982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3703320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RECOMMENDATION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995928"/>
            <a:ext cx="504748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Adopt Dual-Tier Reporting: 3-Way Sentiment Polarity + 8-Class Emotion Drill-Down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30" b="0">
                <a:solidFill>
                  <a:srgbClr val="CBD5E1"/>
                </a:solidFill>
                <a:latin typeface="Segoe UI"/>
              </a:defRPr>
            </a:pPr>
            <a:r>
              <a:t>• Surface 3-Way Sentiment (`Positive`, `Neutral`, `Negative`) with the automatic `sarcasm_flag` flip as the primary executive KPI in dashboards.</a:t>
            </a:r>
            <a:br/>
            <a:r>
              <a:t>• Retain the 8 canonical emotions (`outrage_hostility`, `urgency_panic`, `disappointed_sad`, etc.) for downstream compliance &amp; routing workflows.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538728"/>
            <a:ext cx="5449824" cy="2057400"/>
          </a:xfrm>
          <a:prstGeom prst="roundRect">
            <a:avLst>
              <a:gd name="adj" fmla="val 3000"/>
            </a:avLst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538728"/>
            <a:ext cx="544982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82512" y="3703320"/>
            <a:ext cx="1691640" cy="23774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RECOMMENDATION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995928"/>
            <a:ext cx="504748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Avoid Post-LLM Mathematical Score Fusion &amp; Brittle Keyword Rules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defRPr sz="930" b="0">
                <a:solidFill>
                  <a:srgbClr val="CBD5E1"/>
                </a:solidFill>
                <a:latin typeface="Segoe UI"/>
              </a:defRPr>
            </a:pPr>
            <a:r>
              <a:t>• Keep fusion strictly inside Kev's prompt attention (Early Priming) rather than post-hoc probability averaging, preventing Japanese SER pitch-accent errors from corrupting predictions.</a:t>
            </a:r>
            <a:br/>
            <a:r>
              <a:t>• Maintain Dual-Stream Audio Routing (un-normalized audio to Librosa DSP; normalized audio to Whisper/Emotion2Vec+) as a mandatory preprocessing standard.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79008"/>
            <a:ext cx="11094415" cy="566928"/>
          </a:xfrm>
          <a:prstGeom prst="roundRect">
            <a:avLst>
              <a:gd name="adj" fmla="val 3000"/>
            </a:avLst>
          </a:prstGeom>
          <a:solidFill>
            <a:srgbClr val="1A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POC STATUS: </a:t>
            </a:r>
            <a:r>
              <a:rPr sz="1050" b="1">
                <a:solidFill>
                  <a:srgbClr val="F8FAFC"/>
                </a:solidFill>
                <a:latin typeface="Segoe UI"/>
              </a:rPr>
              <a:t>Production-Ready Prototype Live  |  </a:t>
            </a:r>
            <a:r>
              <a:rPr sz="1000" b="0">
                <a:solidFill>
                  <a:srgbClr val="CBD5E1"/>
                </a:solidFill>
                <a:latin typeface="Segoe UI"/>
              </a:rPr>
              <a:t>2,000 Multilingual Clips + 122 SER Validation Clips Benchmarked  |  </a:t>
            </a:r>
            <a:r>
              <a:rPr sz="1050" b="1">
                <a:solidFill>
                  <a:srgbClr val="38BDF8"/>
                </a:solidFill>
                <a:latin typeface="Segoe UI"/>
              </a:rPr>
              <a:t>Presenters: Vaibhav &amp; Balram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