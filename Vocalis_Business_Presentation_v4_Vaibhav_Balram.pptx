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68680" y="868680"/>
            <a:ext cx="3474720" cy="329184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2563EB"/>
                </a:solidFill>
                <a:latin typeface="Segoe UI"/>
              </a:defRPr>
            </a:pPr>
            <a:r>
              <a:t>TECHNICAL POC &amp; ARCHITECTURE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2416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defRPr sz="4400" b="1">
                <a:solidFill>
                  <a:srgbClr val="0F172A"/>
                </a:solidFill>
                <a:latin typeface="Segoe UI"/>
              </a:defRPr>
            </a:pPr>
            <a:r>
              <a:t>VOCALIS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  <a:defRPr sz="2600" b="1">
                <a:solidFill>
                  <a:srgbClr val="2563EB"/>
                </a:solidFill>
                <a:latin typeface="Segoe UI"/>
              </a:defRPr>
            </a:pPr>
            <a:r>
              <a:t>Multimodal Speech Emotion &amp; Sentiment Intelligence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defRPr sz="1500" b="0">
                <a:solidFill>
                  <a:srgbClr val="64748B"/>
                </a:solidFill>
                <a:latin typeface="Segoe UI"/>
              </a:defRPr>
            </a:pPr>
            <a:r>
              <a:t>Comparative Architecture Review: Dual-Modal Gated Late Fusion vs. Tri-Modal System One Arbitration on NVIDIA GTX 1650 (4 GB VRAM)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3611880"/>
            <a:ext cx="10424160" cy="96012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3611880"/>
            <a:ext cx="73152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767328"/>
            <a:ext cx="4114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defRPr sz="950" b="1">
                <a:solidFill>
                  <a:srgbClr val="64748B"/>
                </a:solidFill>
                <a:latin typeface="Segoe UI"/>
              </a:defRPr>
            </a:pPr>
            <a:r>
              <a:t>SYSTEM ARCHITECTURE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defRPr sz="2000" b="1">
                <a:solidFill>
                  <a:srgbClr val="0F172A"/>
                </a:solidFill>
                <a:latin typeface="Segoe UI"/>
              </a:defRPr>
            </a:pPr>
            <a:r>
              <a:t>Tri-Modal Cognitive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3767328"/>
            <a:ext cx="55778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defRPr sz="950" b="1">
                <a:solidFill>
                  <a:srgbClr val="2563EB"/>
                </a:solidFill>
                <a:latin typeface="Segoe UI"/>
              </a:defRPr>
            </a:pPr>
            <a:r>
              <a:t>PRESENTATION SCOPE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1. Acoustic &amp; SER Engineering Foundations   |   2. Dual-Modal vs. Tri-Modal Boundary</a:t>
            </a:r>
            <a:br/>
            <a:r>
              <a:t>3. Tri-Modal System One Deep Dive (Prosody DSP &amp; PointerHead)   |   4. GTX 1650 &amp; Benchmarks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4846320"/>
            <a:ext cx="2468880" cy="14173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4846320"/>
            <a:ext cx="246888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5010912"/>
            <a:ext cx="21488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59669"/>
                </a:solidFill>
                <a:latin typeface="Segoe UI"/>
              </a:defRPr>
            </a:pPr>
            <a:r>
              <a:t>83.3% / 96.7%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defRPr sz="1150" b="1">
                <a:solidFill>
                  <a:srgbClr val="0F172A"/>
                </a:solidFill>
                <a:latin typeface="Segoe UI"/>
              </a:defRPr>
            </a:pPr>
            <a:r>
              <a:t>3-Way Sentiment Accuracy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defRPr sz="950" b="0">
                <a:solidFill>
                  <a:srgbClr val="64748B"/>
                </a:solidFill>
                <a:latin typeface="Segoe UI"/>
              </a:defRPr>
            </a:pPr>
            <a:r>
              <a:t>Audited EN+JA / EN Call Benchmark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39" y="4846320"/>
            <a:ext cx="2468880" cy="14173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20439" y="4846320"/>
            <a:ext cx="246888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5031" y="5010912"/>
            <a:ext cx="21488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2563EB"/>
                </a:solidFill>
                <a:latin typeface="Segoe UI"/>
              </a:defRPr>
            </a:pPr>
            <a:r>
              <a:t>100% Sentiment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defRPr sz="1150" b="1">
                <a:solidFill>
                  <a:srgbClr val="0F172A"/>
                </a:solidFill>
                <a:latin typeface="Segoe UI"/>
              </a:defRPr>
            </a:pPr>
            <a:r>
              <a:t>Japanese SER Validation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defRPr sz="950" b="0">
                <a:solidFill>
                  <a:srgbClr val="64748B"/>
                </a:solidFill>
                <a:latin typeface="Segoe UI"/>
              </a:defRPr>
            </a:pPr>
            <a:r>
              <a:t>96% Emotion on JVNV-JA Corpus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846320"/>
            <a:ext cx="2468880" cy="14173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4846320"/>
            <a:ext cx="246888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6792" y="5010912"/>
            <a:ext cx="21488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7C3AED"/>
                </a:solidFill>
                <a:latin typeface="Segoe UI"/>
              </a:defRPr>
            </a:pPr>
            <a:r>
              <a:t>System One Arbitrage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defRPr sz="1150" b="1">
                <a:solidFill>
                  <a:srgbClr val="0F172A"/>
                </a:solidFill>
                <a:latin typeface="Segoe UI"/>
              </a:defRPr>
            </a:pPr>
            <a:r>
              <a:t>Zero-Generation Engine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defRPr sz="950" b="0">
                <a:solidFill>
                  <a:srgbClr val="64748B"/>
                </a:solidFill>
                <a:latin typeface="Segoe UI"/>
              </a:defRPr>
            </a:pPr>
            <a:r>
              <a:t>Single-Pass PointerHead (0 Tokens)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23959" y="4846320"/>
            <a:ext cx="2468880" cy="14173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23959" y="4846320"/>
            <a:ext cx="246888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88551" y="5010912"/>
            <a:ext cx="21488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D97706"/>
                </a:solidFill>
                <a:latin typeface="Segoe UI"/>
              </a:defRPr>
            </a:pPr>
            <a:r>
              <a:t>GTX 1650 (4 GB)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defRPr sz="1150" b="1">
                <a:solidFill>
                  <a:srgbClr val="0F172A"/>
                </a:solidFill>
                <a:latin typeface="Segoe UI"/>
              </a:defRPr>
            </a:pPr>
            <a:r>
              <a:t>Edge Hardware Footprint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defRPr sz="950" b="0">
                <a:solidFill>
                  <a:srgbClr val="64748B"/>
                </a:solidFill>
                <a:latin typeface="Segoe UI"/>
              </a:defRPr>
            </a:pPr>
            <a:r>
              <a:t>Zero-OOM 4-Stage Eviction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9601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1. CORE FOUNDATIONS  |  SPEECH VS. LEXICAL 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058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Why Text Transcripts Alone Fail: 1 Sentence, 3 Contradictory Meanings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515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Acoustic speech conveys pitch contours, tempo, and vocal timbre that are completely lost in text transcripts.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37376"/>
            <a:ext cx="1100297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28816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Vocalis POC  |  Tri-Modal System One Architecture &amp; Dual UIs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28816"/>
            <a:ext cx="153619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34155"/>
                </a:solidFill>
                <a:latin typeface="Segoe UI"/>
              </a:defRPr>
            </a:pPr>
            <a:r>
              <a:t>2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53312"/>
            <a:ext cx="11002975" cy="71323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353312"/>
            <a:ext cx="73152" cy="7132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46304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0F172A"/>
                </a:solidFill>
                <a:latin typeface="Segoe UI"/>
              </a:defRPr>
            </a:pPr>
            <a:r>
              <a:t>Spoken Speech  =  Lexical Content (Transcribed Text)   +   Acoustic Delivery (Pitch + Speed + Energy)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defRPr sz="1150" b="0">
                <a:solidFill>
                  <a:srgbClr val="334155"/>
                </a:solidFill>
                <a:latin typeface="Segoe UI"/>
              </a:defRPr>
            </a:pPr>
            <a:r>
              <a:t>A standard NLP model observes:  "Thank you so much for the help today."   It cannot discern genuine delight from sarcastic exhaustion.</a:t>
            </a:r>
          </a:p>
        </p:txBody>
      </p:sp>
      <p:pic>
        <p:nvPicPr>
          <p:cNvPr id="11" name="Picture 10" descr="intonation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194560"/>
            <a:ext cx="11002975" cy="258330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94360" y="5138928"/>
            <a:ext cx="3547872" cy="1143000"/>
          </a:xfrm>
          <a:prstGeom prst="roundRect">
            <a:avLst>
              <a:gd name="adj" fmla="val 2500"/>
            </a:avLst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5138928"/>
            <a:ext cx="73152" cy="1143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248656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200" b="1">
                <a:solidFill>
                  <a:srgbClr val="059669"/>
                </a:solidFill>
                <a:latin typeface="Segoe UI"/>
              </a:defRPr>
            </a:pPr>
            <a:r>
              <a:t>Genuine Gratitude → POSITIVE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defRPr sz="1050" b="0">
                <a:solidFill>
                  <a:srgbClr val="0F172A"/>
                </a:solidFill>
                <a:latin typeface="Segoe UI"/>
              </a:defRPr>
            </a:pPr>
            <a:r>
              <a:t>Terminal pitch inflection rises warmly (225 Hz) with brisk conversational tempo (5.1 syl/sec).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5112" y="5138928"/>
            <a:ext cx="3547872" cy="1143000"/>
          </a:xfrm>
          <a:prstGeom prst="roundRect">
            <a:avLst>
              <a:gd name="adj" fmla="val 2500"/>
            </a:avLst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25112" y="5138928"/>
            <a:ext cx="73152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7992" y="5248656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Routine Transaction → NEUTRAL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defRPr sz="1050" b="0">
                <a:solidFill>
                  <a:srgbClr val="0F172A"/>
                </a:solidFill>
                <a:latin typeface="Segoe UI"/>
              </a:defRPr>
            </a:pPr>
            <a:r>
              <a:t>Flat, measured pitch contour (160 Hz) and baseline enterprise cadence (4.5 syl/sec).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5864" y="5138928"/>
            <a:ext cx="3547872" cy="1143000"/>
          </a:xfrm>
          <a:prstGeom prst="roundRect">
            <a:avLst>
              <a:gd name="adj" fmla="val 2500"/>
            </a:avLst>
          </a:prstGeom>
          <a:solidFill>
            <a:srgbClr val="FFF1F2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5864" y="5138928"/>
            <a:ext cx="73152" cy="11430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5248656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200" b="1">
                <a:solidFill>
                  <a:srgbClr val="E11D48"/>
                </a:solidFill>
                <a:latin typeface="Segoe UI"/>
              </a:defRPr>
            </a:pPr>
            <a:r>
              <a:t>Sarcastic / Dejected → NEGATIVE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defRPr sz="1050" b="0">
                <a:solidFill>
                  <a:srgbClr val="0F172A"/>
                </a:solidFill>
                <a:latin typeface="Segoe UI"/>
              </a:defRPr>
            </a:pPr>
            <a:r>
              <a:t>Downward pitch drop (193→155 Hz) coupled with drawn-out, subdued delivery (3.4 syl/sec).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9601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1. ACOUSTIC INTELLIGENCE  |  HOW SER NEURAL MODELS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058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Principles of Speech Emotion Recognition (SER) Neural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515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Emotion2Vec+ Large extracts high-dimensional latent acoustic representations directly from speech waveforms.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37376"/>
            <a:ext cx="1100297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28816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Vocalis POC  |  Tri-Modal System One Architecture &amp; Dual UIs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28816"/>
            <a:ext cx="153619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34155"/>
                </a:solidFill>
                <a:latin typeface="Segoe UI"/>
              </a:defRPr>
            </a:pPr>
            <a:r>
              <a:t>3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2514600" cy="2971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417320"/>
            <a:ext cx="25146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627632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STAGE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011680"/>
            <a:ext cx="214884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Frame Decomposition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Segments continuous audio into 20 ms frames (200 temporal windows for 4s clip).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defRPr sz="1050" b="1">
                <a:solidFill>
                  <a:srgbClr val="2563EB"/>
                </a:solidFill>
                <a:latin typeface="Segoe UI"/>
              </a:defRPr>
            </a:pPr>
            <a:r>
              <a:t>💡 Temporal resolution.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63824" y="2697480"/>
            <a:ext cx="201168" cy="27432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10712" y="1417320"/>
            <a:ext cx="2514600" cy="2971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10712" y="1417320"/>
            <a:ext cx="25146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593592" y="1627632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STAGE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2" y="2011680"/>
            <a:ext cx="214884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Spectral Representation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Extracts log-mel spectrograms capturing formant resonance and vocal timbre.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defRPr sz="1050" b="1">
                <a:solidFill>
                  <a:srgbClr val="0D9488"/>
                </a:solidFill>
                <a:latin typeface="Segoe UI"/>
              </a:defRPr>
            </a:pPr>
            <a:r>
              <a:t>💡 Agnostic to text tokens.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80176" y="2697480"/>
            <a:ext cx="201168" cy="27432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27064" y="1417320"/>
            <a:ext cx="2514600" cy="2971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27064" y="1417320"/>
            <a:ext cx="251460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9944" y="1627632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STAGE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9944" y="2011680"/>
            <a:ext cx="214884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Latent Neural Matching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Projects acoustic vectors against representations learned from 10,000+ hours of speech.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defRPr sz="1050" b="1">
                <a:solidFill>
                  <a:srgbClr val="4F46E5"/>
                </a:solidFill>
                <a:latin typeface="Segoe UI"/>
              </a:defRPr>
            </a:pPr>
            <a:r>
              <a:t>💡 1,024-dim latent embedding.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796528" y="2697480"/>
            <a:ext cx="201168" cy="27432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43416" y="1417320"/>
            <a:ext cx="2514600" cy="2971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43416" y="1417320"/>
            <a:ext cx="251460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226296" y="1627632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STAGE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26296" y="2011680"/>
            <a:ext cx="214884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Acoustic Prior Output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Outputs normalized probability distribution across baseline emotional categories.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defRPr sz="1050" b="1">
                <a:solidFill>
                  <a:srgbClr val="059669"/>
                </a:solidFill>
                <a:latin typeface="Segoe UI"/>
              </a:defRPr>
            </a:pPr>
            <a:r>
              <a:t>💡 Passed downstream as prior.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4663440"/>
            <a:ext cx="11002975" cy="1600200"/>
          </a:xfrm>
          <a:prstGeom prst="roundRect">
            <a:avLst>
              <a:gd name="adj" fmla="val 2500"/>
            </a:avLst>
          </a:prstGeom>
          <a:solidFill>
            <a:srgbClr val="FFF1F2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4360" y="4663440"/>
            <a:ext cx="73152" cy="16002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800600"/>
            <a:ext cx="1051560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350" b="1">
                <a:solidFill>
                  <a:srgbClr val="E11D48"/>
                </a:solidFill>
                <a:latin typeface="Segoe UI"/>
              </a:defRPr>
            </a:pPr>
            <a:r>
              <a:t>Architectural Limitations of Standalone SER (Two Critical Blind Spots)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150" b="0">
                <a:solidFill>
                  <a:srgbClr val="0F172A"/>
                </a:solidFill>
                <a:latin typeface="Segoe UI"/>
              </a:defRPr>
            </a:pPr>
            <a:r>
              <a:t>1. Lexical Blindness: Models evaluate acoustic resonance but lack contextual comprehension of customer intent, complaints, or explicit instructions.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defRPr sz="1150" b="0">
                <a:solidFill>
                  <a:srgbClr val="0F172A"/>
                </a:solidFill>
                <a:latin typeface="Segoe UI"/>
              </a:defRPr>
            </a:pPr>
            <a:r>
              <a:t>2. Cross-Lingual Pitch Bias: In pitch-accent languages such as Japanese, natural polite inflections trigger false 'happy' classifications (74% error rate).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9601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2. ARCHITECTURE TRACK 1  |  DUAL-MODAL GATED LATE FUSION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058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Approach 1: Dual-Modal Architecture with Gated Late Fusion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515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A decoupled dual-track pipeline uniting Emotion2Vec+ Large acoustic distributions with ElevenLabs Scribe lexical models.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37376"/>
            <a:ext cx="1100297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28816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Vocalis POC  |  Tri-Modal System One Architecture &amp; Dual UIs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28816"/>
            <a:ext cx="153619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34155"/>
                </a:solidFill>
                <a:latin typeface="Segoe UI"/>
              </a:defRPr>
            </a:pPr>
            <a:r>
              <a:t>4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53312"/>
            <a:ext cx="11002975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ual_modal_diagram_v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389888"/>
            <a:ext cx="10789920" cy="278415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94360" y="4434840"/>
            <a:ext cx="3547872" cy="19659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4434840"/>
            <a:ext cx="354787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4590288"/>
            <a:ext cx="3218688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defRPr sz="950" b="1">
                <a:solidFill>
                  <a:srgbClr val="2563EB"/>
                </a:solidFill>
                <a:latin typeface="Segoe UI"/>
              </a:defRPr>
            </a:pPr>
            <a:r>
              <a:t>AUDIO TRACK (SER BACKBONE)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0F172A"/>
                </a:solidFill>
                <a:latin typeface="Segoe UI"/>
              </a:defRPr>
            </a:pPr>
            <a:r>
              <a:t>Emotion2Vec+ Plus Large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defRPr sz="950" b="0">
                <a:solidFill>
                  <a:srgbClr val="334155"/>
                </a:solidFill>
                <a:latin typeface="Segoe UI"/>
              </a:defRPr>
            </a:pPr>
            <a:r>
              <a:t>Decodes normalized audio waveforms to generate baseline acoustic score distributions across emotion classes.</a:t>
            </a:r>
            <a:br/>
            <a:br/>
            <a:r>
              <a:t>📌 Note: Emotion2Vec+ Large is the common acoustic foundation across both POC architectures.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5112" y="4434840"/>
            <a:ext cx="3547872" cy="19659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25112" y="4434840"/>
            <a:ext cx="3547872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9704" y="4590288"/>
            <a:ext cx="3218688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defRPr sz="950" b="1">
                <a:solidFill>
                  <a:srgbClr val="D97706"/>
                </a:solidFill>
                <a:latin typeface="Segoe UI"/>
              </a:defRPr>
            </a:pPr>
            <a:r>
              <a:t>TEXT TRACK (TWO NLP MODELS)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0F172A"/>
                </a:solidFill>
                <a:latin typeface="Segoe UI"/>
              </a:defRPr>
            </a:pPr>
            <a:r>
              <a:t>ElevenLabs Scribe + 2 Analyzers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defRPr sz="950" b="0">
                <a:solidFill>
                  <a:srgbClr val="334155"/>
                </a:solidFill>
                <a:latin typeface="Segoe UI"/>
              </a:defRPr>
            </a:pPr>
            <a:r>
              <a:t>Transcribes spoken audio into text, then forks text representations into TWO separate downstream analyzers:</a:t>
            </a:r>
            <a:br/>
            <a:r>
              <a:t>1. Transcript Sentiment Model (Polarity)</a:t>
            </a:r>
            <a:br/>
            <a:r>
              <a:t>2. Transcript Emotion Model (Categorical)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5864" y="4434840"/>
            <a:ext cx="3547872" cy="19659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55864" y="4434840"/>
            <a:ext cx="3547872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0456" y="4590288"/>
            <a:ext cx="3218688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defRPr sz="950" b="1">
                <a:solidFill>
                  <a:srgbClr val="7C3AED"/>
                </a:solidFill>
                <a:latin typeface="Segoe UI"/>
              </a:defRPr>
            </a:pPr>
            <a:r>
              <a:t>GATED LATE FUSION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0F172A"/>
                </a:solidFill>
                <a:latin typeface="Segoe UI"/>
              </a:defRPr>
            </a:pPr>
            <a:r>
              <a:t>Dual Mathematical Gating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defRPr sz="950" b="0">
                <a:solidFill>
                  <a:srgbClr val="334155"/>
                </a:solidFill>
                <a:latin typeface="Segoe UI"/>
              </a:defRPr>
            </a:pPr>
            <a:r>
              <a:t>Merges audio distributions and text predictions via confidence-weighted mathematical gating:</a:t>
            </a:r>
            <a:br/>
            <a:r>
              <a:t>• Sentiment Gated Late Fusion</a:t>
            </a:r>
            <a:br/>
            <a:r>
              <a:t>• Emotion Gated Late Fusion</a:t>
            </a:r>
            <a:br/>
            <a:r>
              <a:t>Outputs persisted report JSON.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9601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2. ARCHITECTURE COMPARISON  |  STAGE-2 DIVERGENCE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058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Stage-2 Divergence: Dual-Modal Late Fusion vs. Tri-Modal System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515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Both backends share Emotion2Vec+ Large as the acoustic foundation—the fundamental architectural divergence occurs in Stage 2.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37376"/>
            <a:ext cx="1100297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28816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Vocalis POC  |  Tri-Modal System One Architecture &amp; Dual UIs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28816"/>
            <a:ext cx="153619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34155"/>
                </a:solidFill>
                <a:latin typeface="Segoe UI"/>
              </a:defRPr>
            </a:pPr>
            <a:r>
              <a:t>5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53312"/>
            <a:ext cx="11002975" cy="27889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pproach_comparison_diagram_v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389888"/>
            <a:ext cx="10789920" cy="2653259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94360" y="4297680"/>
          <a:ext cx="11002975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03120"/>
                <a:gridCol w="2194560"/>
                <a:gridCol w="2194560"/>
                <a:gridCol w="2316175"/>
              </a:tblGrid>
              <a:tr h="685800"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Architecture Dimension</a:t>
                      </a:r>
                    </a:p>
                  </a:txBody>
                  <a:tcPr anchor="ctr" marL="109728" marR="109728" marT="54864" marB="54864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Inputs / Modalities</a:t>
                      </a:r>
                    </a:p>
                  </a:txBody>
                  <a:tcPr anchor="ctr" marL="109728" marR="109728" marT="54864" marB="54864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Second-Stage Mechanism</a:t>
                      </a:r>
                    </a:p>
                  </a:txBody>
                  <a:tcPr anchor="ctr" marL="109728" marR="109728" marT="54864" marB="54864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Sarcasm &amp; Tension Handling</a:t>
                      </a:r>
                    </a:p>
                  </a:txBody>
                  <a:tcPr anchor="ctr" marL="109728" marR="109728" marT="54864" marB="54864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Multilingual Robustness</a:t>
                      </a:r>
                    </a:p>
                  </a:txBody>
                  <a:tcPr anchor="ctr" marL="109728" marR="109728" marT="54864" marB="54864">
                    <a:solidFill>
                      <a:srgbClr val="0F172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>
                        <a:defRPr sz="88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Approach 1:</a:t>
                      </a:r>
                      <a:br/>
                      <a:r>
                        <a:t>Dual-Modal Gated Late Fusion</a:t>
                      </a:r>
                    </a:p>
                  </a:txBody>
                  <a:tcPr anchor="ctr" marL="109728" marR="109728" marT="54864" marB="54864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8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2 Modalities:</a:t>
                      </a:r>
                      <a:br/>
                      <a:r>
                        <a:t>Audio + Scribe Text</a:t>
                      </a:r>
                    </a:p>
                  </a:txBody>
                  <a:tcPr anchor="ctr" marL="109728" marR="109728" marT="54864" marB="54864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8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Gated Late Fusion:</a:t>
                      </a:r>
                      <a:br/>
                      <a:r>
                        <a:t>Separate sentiment &amp; emotion math gating</a:t>
                      </a:r>
                    </a:p>
                  </a:txBody>
                  <a:tcPr anchor="ctr" marL="109728" marR="109728" marT="54864" marB="54864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8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Heuristic:</a:t>
                      </a:r>
                      <a:br/>
                      <a:r>
                        <a:t>Relies on confidence thresholds between models</a:t>
                      </a:r>
                    </a:p>
                  </a:txBody>
                  <a:tcPr anchor="ctr" marL="109728" marR="109728" marT="54864" marB="54864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8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Good on English;</a:t>
                      </a:r>
                      <a:br/>
                      <a:r>
                        <a:t>Can inherit SER bias on foreign accents</a:t>
                      </a:r>
                    </a:p>
                  </a:txBody>
                  <a:tcPr anchor="ctr" marL="109728" marR="109728" marT="54864" marB="54864">
                    <a:solidFill>
                      <a:srgbClr val="F8FAFC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>
                        <a:defRPr sz="88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Approach 2:</a:t>
                      </a:r>
                      <a:br/>
                      <a:r>
                        <a:t>Tri-Modal System One Arbitrage</a:t>
                      </a:r>
                    </a:p>
                  </a:txBody>
                  <a:tcPr anchor="ctr" marL="109728" marR="109728" marT="54864" marB="54864"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8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3 Modalities:</a:t>
                      </a:r>
                      <a:br/>
                      <a:r>
                        <a:t>Text + SER Prior + Librosa Prosody</a:t>
                      </a:r>
                    </a:p>
                  </a:txBody>
                  <a:tcPr anchor="ctr" marL="109728" marR="109728" marT="54864" marB="54864"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8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Single-Pass System One:</a:t>
                      </a:r>
                      <a:br/>
                      <a:r>
                        <a:t>Early prompt attention in transformer layers</a:t>
                      </a:r>
                    </a:p>
                  </a:txBody>
                  <a:tcPr anchor="ctr" marL="109728" marR="109728" marT="54864" marB="54864"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8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Natively Arbitrated:</a:t>
                      </a:r>
                      <a:br/>
                      <a:r>
                        <a:t>Spots polite words vs. falling pitch / sad prior</a:t>
                      </a:r>
                    </a:p>
                  </a:txBody>
                  <a:tcPr anchor="ctr" marL="109728" marR="109728" marT="54864" marB="54864"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8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High (+32% on Japanese):</a:t>
                      </a:r>
                      <a:br/>
                      <a:r>
                        <a:t>System One overrides false happy SER priors</a:t>
                      </a:r>
                    </a:p>
                  </a:txBody>
                  <a:tcPr anchor="ctr" marL="109728" marR="109728" marT="54864" marB="54864"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9601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2. POC EVALUATION  |  ARCHITECTURAL MILESTONE &amp; DUAL UIS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058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Architectural Decision Milestone &amp; Dual UI Experiences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515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Why Vocalis standardizes on Tri-Modal System One Arbitration and how users interact with both POC paradigms.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37376"/>
            <a:ext cx="1100297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28816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Vocalis POC  |  Tri-Modal System One Architecture &amp; Dual UIs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28816"/>
            <a:ext cx="153619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34155"/>
                </a:solidFill>
                <a:latin typeface="Segoe UI"/>
              </a:defRPr>
            </a:pPr>
            <a:r>
              <a:t>6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349240" cy="48463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389888"/>
            <a:ext cx="534924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1627632"/>
            <a:ext cx="3474720" cy="29260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PRODUCTION SELECTION: TRI-MODAL SYSTEM 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057400"/>
            <a:ext cx="489204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Why Vocalis Moves Forward with Tri-Modal System One: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050" b="0">
                <a:solidFill>
                  <a:srgbClr val="334155"/>
                </a:solidFill>
                <a:latin typeface="Segoe UI"/>
              </a:defRPr>
            </a:pPr>
            <a:r>
              <a:t>• Cross-Lingual Robustness: Standalone SER fails on 74% of Japanese speech by mistaking polite pitch-accent for happiness. System One cross-attends words with vocal acoustics, achieving 100% sentiment (+32% gain).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050" b="0">
                <a:solidFill>
                  <a:srgbClr val="334155"/>
                </a:solidFill>
                <a:latin typeface="Segoe UI"/>
              </a:defRPr>
            </a:pPr>
            <a:r>
              <a:t>• Real-World Sarcasm Arbitration: Dual-Modal late fusion cannot detect when polite words hide contempt. Tri-Modal captures falling pitch and slow cadence to trigger the sarcasm flag.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050" b="0">
                <a:solidFill>
                  <a:srgbClr val="334155"/>
                </a:solidFill>
                <a:latin typeface="Segoe UI"/>
              </a:defRPr>
            </a:pPr>
            <a:r>
              <a:t>• Zero-Generation Determinism: System One uses a PointerHead instead of autoregressive text generation—guaranteeing 100% schema validity at 5x–10x higher speed.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defRPr sz="1050" b="1">
                <a:solidFill>
                  <a:srgbClr val="059669"/>
                </a:solidFill>
                <a:latin typeface="Segoe UI"/>
              </a:defRPr>
            </a:pPr>
            <a:r>
              <a:t>• 4 GB Edge Feasibility: Fully compatible with consumer GPUs via sequential load-infer-evict staging.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1389888"/>
            <a:ext cx="5349240" cy="48463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5352" y="1389888"/>
            <a:ext cx="534924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73952" y="1627632"/>
            <a:ext cx="3474720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DUAL INTERACTIVE UIS IMPLEMENTED IN VOCALIS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057400"/>
            <a:ext cx="489204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Two Tailored Enterprise Interfaces Built for the POC: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defRPr sz="1150" b="1">
                <a:solidFill>
                  <a:srgbClr val="7C3AED"/>
                </a:solidFill>
                <a:latin typeface="Segoe UI"/>
              </a:defRPr>
            </a:pPr>
            <a:r>
              <a:t>1. UI 1 — Dual-Modal Batch Analytics &amp; Archive Explorer: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019" b="0">
                <a:solidFill>
                  <a:srgbClr val="334155"/>
                </a:solidFill>
                <a:latin typeface="Segoe UI"/>
              </a:defRPr>
            </a:pPr>
            <a:r>
              <a:t>• Designed for QA compliance teams, call center audits, and historical recording archives.</a:t>
            </a:r>
            <a:br/>
            <a:r>
              <a:t>• Visualizes decoupled Transcript Sentiment alongside Emotion2Vec+ curves and late-fusion gating shifts.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defRPr sz="1150" b="1">
                <a:solidFill>
                  <a:srgbClr val="2563EB"/>
                </a:solidFill>
                <a:latin typeface="Segoe UI"/>
              </a:defRPr>
            </a:pPr>
            <a:r>
              <a:t>2. UI 2 — Tri-Modal Live Studio &amp; Deep Inspector: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defRPr sz="1019" b="0">
                <a:solidFill>
                  <a:srgbClr val="334155"/>
                </a:solidFill>
                <a:latin typeface="Segoe UI"/>
              </a:defRPr>
            </a:pPr>
            <a:r>
              <a:t>• Built for real-time agent call monitoring, live microphone capture, and multi-modal debugging.</a:t>
            </a:r>
            <a:br/>
            <a:r>
              <a:t>• Displays live prosody telemetry (Pitch Hz, Tempo onsets/s, Energy dB), 8-emotion distribution, and interactive timeline sarcasm flip detection.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9601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3. TRI-MODAL ARCHITECTURE  |  PROSODIC FEATURE EXTRACTION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058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How Prosodic Feature Extraction Decodes Vocal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515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Prosody captures the macro-physical dynamics of speech—4 objective acoustic signals extracted deterministically via Librosa DSP.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37376"/>
            <a:ext cx="1100297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28816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Vocalis POC  |  Tri-Modal System One Architecture &amp; Dual UIs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28816"/>
            <a:ext cx="153619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34155"/>
                </a:solidFill>
                <a:latin typeface="Segoe UI"/>
              </a:defRPr>
            </a:pPr>
            <a:r>
              <a:t>7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404104" cy="2286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389888"/>
            <a:ext cx="5404104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554480"/>
            <a:ext cx="4983480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350" b="1">
                <a:solidFill>
                  <a:srgbClr val="2563EB"/>
                </a:solidFill>
                <a:latin typeface="Segoe UI"/>
              </a:defRPr>
            </a:pPr>
            <a:r>
              <a:t>1. PITCH (F0 Fundamental Frequency — Hz)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defRPr sz="1050" b="0">
                <a:solidFill>
                  <a:srgbClr val="64748B"/>
                </a:solidFill>
                <a:latin typeface="Segoe UI"/>
              </a:defRPr>
            </a:pPr>
            <a:r>
              <a:t>Fundamental frequency contour tracking whether voice inflections rise or fall at phrase boundaries.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📈 Rising / Elevated Pitch (&gt;210 Hz): Excitement, Satisfaction, or High Agitation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defRPr sz="1100" b="1">
                <a:solidFill>
                  <a:srgbClr val="334155"/>
                </a:solidFill>
                <a:latin typeface="Segoe UI"/>
              </a:defRPr>
            </a:pPr>
            <a:r>
              <a:t>📉 Depressed / Falling Pitch: Disappointment, Defeat, or Ironic Cynicism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389888"/>
            <a:ext cx="5404104" cy="2286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389888"/>
            <a:ext cx="5404104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1656" y="1554480"/>
            <a:ext cx="4983480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350" b="1">
                <a:solidFill>
                  <a:srgbClr val="D97706"/>
                </a:solidFill>
                <a:latin typeface="Segoe UI"/>
              </a:defRPr>
            </a:pPr>
            <a:r>
              <a:t>2. TEMPO (Speaking Rate — Syllables / Onsets per Sec)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defRPr sz="1050" b="0">
                <a:solidFill>
                  <a:srgbClr val="64748B"/>
                </a:solidFill>
                <a:latin typeface="Segoe UI"/>
              </a:defRPr>
            </a:pPr>
            <a:r>
              <a:t>Temporal speech cadence computed across silence-trimmed audio frames.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⚡ Accelerated Tempo (&gt;5.5 syl/sec): High Urgency, Panic, or Confrontation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defRPr sz="1100" b="1">
                <a:solidFill>
                  <a:srgbClr val="334155"/>
                </a:solidFill>
                <a:latin typeface="Segoe UI"/>
              </a:defRPr>
            </a:pPr>
            <a:r>
              <a:t>🐢 Decelerated Tempo (&lt;3.5 syl/sec): Subdued Sadness, Hesitation, or Sarcastic Drag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877056"/>
            <a:ext cx="5404104" cy="2286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3877056"/>
            <a:ext cx="5404104" cy="54864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4041648"/>
            <a:ext cx="4983480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350" b="1">
                <a:solidFill>
                  <a:srgbClr val="E11D48"/>
                </a:solidFill>
                <a:latin typeface="Segoe UI"/>
              </a:defRPr>
            </a:pPr>
            <a:r>
              <a:t>3. ENERGY (Vocal Sound Pressure — Decibels dB)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defRPr sz="1050" b="0">
                <a:solidFill>
                  <a:srgbClr val="64748B"/>
                </a:solidFill>
                <a:latin typeface="Segoe UI"/>
              </a:defRPr>
            </a:pPr>
            <a:r>
              <a:t>Root-mean-square amplitude measuring physical air pressure project into the microphone.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🔊 Elevated Energy (&gt;78 dB): Escalated Hostility, Outrage, or Aggressive Outbursts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defRPr sz="1100" b="1">
                <a:solidFill>
                  <a:srgbClr val="334155"/>
                </a:solidFill>
                <a:latin typeface="Segoe UI"/>
              </a:defRPr>
            </a:pPr>
            <a:r>
              <a:t>🔉 Diminished Energy (&lt;65 dB): Subdued Resignation, Grief, or Low Engagement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3877056"/>
            <a:ext cx="5404104" cy="2286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0488" y="3877056"/>
            <a:ext cx="5404104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91656" y="4041648"/>
            <a:ext cx="4983480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350" b="1">
                <a:solidFill>
                  <a:srgbClr val="0D9488"/>
                </a:solidFill>
                <a:latin typeface="Segoe UI"/>
              </a:defRPr>
            </a:pPr>
            <a:r>
              <a:t>4. VOICE QUALITY (Harmonic Stability &amp; Jitter)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defRPr sz="1050" b="0">
                <a:solidFill>
                  <a:srgbClr val="64748B"/>
                </a:solidFill>
                <a:latin typeface="Segoe UI"/>
              </a:defRPr>
            </a:pPr>
            <a:r>
              <a:t>Perturbation quotient across glottal pulse cycles revealing vocal stability versus micro-tremors.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〰️ Elevated Perturbation: Acute Anxiety, Fear, or Suppressed Frustration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defRPr sz="1100" b="1">
                <a:solidFill>
                  <a:srgbClr val="334155"/>
                </a:solidFill>
                <a:latin typeface="Segoe UI"/>
              </a:defRPr>
            </a:pPr>
            <a:r>
              <a:t>✨ Steady Harmonic Phonation: Controlled Business Delivery or Neutral Compliance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9601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3. TRI-MODAL ARCHITECTURE  |  SYSTEM ONE ENGINE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058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Understanding 'System One': How It Differs from a Generative LLM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515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System One uses transformer representations but replaces slow autoregressive token loops with instant PointerHead classifications.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37376"/>
            <a:ext cx="1100297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28816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Vocalis POC  |  Tri-Modal System One Architecture &amp; Dual UIs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28816"/>
            <a:ext cx="153619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34155"/>
                </a:solidFill>
                <a:latin typeface="Segoe UI"/>
              </a:defRPr>
            </a:pPr>
            <a:r>
              <a:t>8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53312"/>
            <a:ext cx="11002975" cy="2514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ystem_on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389888"/>
            <a:ext cx="10789920" cy="242773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94360" y="4005072"/>
            <a:ext cx="3547872" cy="23774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4005072"/>
            <a:ext cx="3547872" cy="54864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4151376"/>
            <a:ext cx="3218688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defRPr sz="950" b="1">
                <a:solidFill>
                  <a:srgbClr val="E11D48"/>
                </a:solidFill>
                <a:latin typeface="Segoe UI"/>
              </a:defRPr>
            </a:pPr>
            <a:r>
              <a:t>1. ZERO-GENERATION (0 TOKENS)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150" b="1">
                <a:solidFill>
                  <a:srgbClr val="0F172A"/>
                </a:solidFill>
                <a:latin typeface="Segoe UI"/>
              </a:defRPr>
            </a:pPr>
            <a:r>
              <a:t>Single Forward Pass vs. Token Loop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defRPr sz="980" b="0">
                <a:solidFill>
                  <a:srgbClr val="334155"/>
                </a:solidFill>
                <a:latin typeface="Segoe UI"/>
              </a:defRPr>
            </a:pPr>
            <a:r>
              <a:t>• Standard LLMs generate responses token-by-token (15–30 ms/token), taking seconds.</a:t>
            </a:r>
            <a:br/>
            <a:r>
              <a:t>• System One generates ZERO text tokens. It evaluates the prompt in exactly 1 forward pass through transformer attention weights.</a:t>
            </a:r>
            <a:br/>
            <a:r>
              <a:t>• Result: 5x–10x faster execution and drastically lower GPU memory footprint.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5112" y="4005072"/>
            <a:ext cx="3547872" cy="23774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25112" y="4005072"/>
            <a:ext cx="354787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9704" y="4151376"/>
            <a:ext cx="3218688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defRPr sz="950" b="1">
                <a:solidFill>
                  <a:srgbClr val="2563EB"/>
                </a:solidFill>
                <a:latin typeface="Segoe UI"/>
              </a:defRPr>
            </a:pPr>
            <a:r>
              <a:t>2. TYPED CLASSES (`type: choice`)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150" b="1">
                <a:solidFill>
                  <a:srgbClr val="0F172A"/>
                </a:solidFill>
                <a:latin typeface="Segoe UI"/>
              </a:defRPr>
            </a:pPr>
            <a:r>
              <a:t>Normalized Attention Pointers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defRPr sz="980" b="0">
                <a:solidFill>
                  <a:srgbClr val="334155"/>
                </a:solidFill>
                <a:latin typeface="Segoe UI"/>
              </a:defRPr>
            </a:pPr>
            <a:r>
              <a:t>• Direct categorical classification over fixed taxonomy schemas.</a:t>
            </a:r>
            <a:br/>
            <a:r>
              <a:t>• Normalizes attention logits into exact softmax probabilities across the 8 canonical emotions.</a:t>
            </a:r>
            <a:br/>
            <a:r>
              <a:t>• Result: Eliminates word hallucination and guarantees calibrated confidence scores.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5864" y="4005072"/>
            <a:ext cx="3547872" cy="23774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55864" y="4005072"/>
            <a:ext cx="3547872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0456" y="4151376"/>
            <a:ext cx="3218688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defRPr sz="950" b="1">
                <a:solidFill>
                  <a:srgbClr val="059669"/>
                </a:solidFill>
                <a:latin typeface="Segoe UI"/>
              </a:defRPr>
            </a:pPr>
            <a:r>
              <a:t>3. CONTINUOUS SCALARS (`type: noul`)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150" b="1">
                <a:solidFill>
                  <a:srgbClr val="0F172A"/>
                </a:solidFill>
                <a:latin typeface="Segoe UI"/>
              </a:defRPr>
            </a:pPr>
            <a:r>
              <a:t>Floating-Point Regression Head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defRPr sz="980" b="0">
                <a:solidFill>
                  <a:srgbClr val="334155"/>
                </a:solidFill>
                <a:latin typeface="Segoe UI"/>
              </a:defRPr>
            </a:pPr>
            <a:r>
              <a:t>• Generative LLMs struggle to output calibrated continuous numbers reliably.</a:t>
            </a:r>
            <a:br/>
            <a:r>
              <a:t>• System One includes a `noul` head that directly reads out continuous floating-point probabilities in [0.0, 1.0].</a:t>
            </a:r>
            <a:br/>
            <a:r>
              <a:t>• Powers the `sarcasm_detected` trigger (`0.5715`) with 100% JSON schema compliance guarantee.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9601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3. PROJECT TAXONOMY  |  EMOTIONS &amp; BUSINESS SENTIMENT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058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8 Canonical Emotions Mapped to 3 Business Sentiments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515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Vocalis detects 8 specific emotional categories and rolls them up into Positive, Neutral, or Negative sentiment for business KPIs.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37376"/>
            <a:ext cx="1100297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28816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Vocalis POC  |  Tri-Modal System One Architecture &amp; Dual UIs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28816"/>
            <a:ext cx="153619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34155"/>
                </a:solidFill>
                <a:latin typeface="Segoe UI"/>
              </a:defRPr>
            </a:pPr>
            <a:r>
              <a:t>9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3337560" cy="48463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389888"/>
            <a:ext cx="333756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160020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POSITIVE SENTIMENT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057400"/>
            <a:ext cx="28803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1. satisfaction_gratitude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Genuine happiness, relief, warm appreciation, and client satisfaction.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" y="3611880"/>
            <a:ext cx="2916936" cy="2377440"/>
          </a:xfrm>
          <a:prstGeom prst="roundRect">
            <a:avLst>
              <a:gd name="adj" fmla="val 2500"/>
            </a:avLst>
          </a:prstGeom>
          <a:solidFill>
            <a:srgbClr val="FFF1F2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" y="3611880"/>
            <a:ext cx="73152" cy="237744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749039"/>
            <a:ext cx="260604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E11D48"/>
                </a:solidFill>
                <a:latin typeface="Segoe UI"/>
              </a:defRPr>
            </a:pPr>
            <a:r>
              <a:t>⚡ Sarcasm Polarity Flip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050" b="0">
                <a:solidFill>
                  <a:srgbClr val="0F172A"/>
                </a:solidFill>
                <a:latin typeface="Segoe UI"/>
              </a:defRPr>
            </a:pPr>
            <a:r>
              <a:t>If the speaker says polite words ('Thank you') with a sad/angry voice and System One flags sarcasm (≥ 45%):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defRPr sz="1100" b="1">
                <a:solidFill>
                  <a:srgbClr val="E11D48"/>
                </a:solidFill>
                <a:latin typeface="Segoe UI"/>
              </a:defRPr>
            </a:pPr>
            <a:r>
              <a:t>Positive Emotion ➔ Inverts to NEGATIVE Sentiment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33087" y="1389888"/>
            <a:ext cx="3108960" cy="48463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33087" y="1389888"/>
            <a:ext cx="31089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61688" y="1600200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NEUTRAL SENTIMENT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1688" y="2057400"/>
            <a:ext cx="265176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2. neutral_inquiry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6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Calm routine inquiries, informational questions, and objective business updates.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Acoustic Profile: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defRPr sz="1050" b="0">
                <a:solidFill>
                  <a:srgbClr val="334155"/>
                </a:solidFill>
                <a:latin typeface="Segoe UI"/>
              </a:defRPr>
            </a:pPr>
            <a:r>
              <a:t>• Steady pitch contour</a:t>
            </a:r>
            <a:br/>
            <a:r>
              <a:t>• Baseline conversational pace</a:t>
            </a:r>
            <a:br/>
            <a:r>
              <a:t>• Moderate sound pressure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43216" y="1389888"/>
            <a:ext cx="4151376" cy="48463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43216" y="1389888"/>
            <a:ext cx="4151376" cy="54864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671816" y="1600200"/>
            <a:ext cx="2560320" cy="310896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NEGATIVE SENTIMENT (6 EMOTIONS)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62672" y="2057400"/>
            <a:ext cx="3712463" cy="585216"/>
          </a:xfrm>
          <a:prstGeom prst="roundRect">
            <a:avLst>
              <a:gd name="adj" fmla="val 2500"/>
            </a:avLst>
          </a:prstGeom>
          <a:solidFill>
            <a:srgbClr val="FFF1F2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62672" y="2057400"/>
            <a:ext cx="73152" cy="585216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27264" y="2130552"/>
            <a:ext cx="34564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3. frustration_irritation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defRPr sz="950" b="0">
                <a:solidFill>
                  <a:srgbClr val="334155"/>
                </a:solidFill>
                <a:latin typeface="Segoe UI"/>
              </a:defRPr>
            </a:pPr>
            <a:r>
              <a:t>Impatient complaints &amp; vocal annoyance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62672" y="2734056"/>
            <a:ext cx="3712463" cy="585216"/>
          </a:xfrm>
          <a:prstGeom prst="roundRect">
            <a:avLst>
              <a:gd name="adj" fmla="val 2500"/>
            </a:avLst>
          </a:prstGeom>
          <a:solidFill>
            <a:srgbClr val="FFF1F2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62672" y="2734056"/>
            <a:ext cx="73152" cy="585216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27264" y="2807208"/>
            <a:ext cx="34564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4. outrage_hostility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defRPr sz="950" b="0">
                <a:solidFill>
                  <a:srgbClr val="334155"/>
                </a:solidFill>
                <a:latin typeface="Segoe UI"/>
              </a:defRPr>
            </a:pPr>
            <a:r>
              <a:t>Shouting, fury &amp; aggressive threats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62672" y="3410712"/>
            <a:ext cx="3712463" cy="585216"/>
          </a:xfrm>
          <a:prstGeom prst="roundRect">
            <a:avLst>
              <a:gd name="adj" fmla="val 2500"/>
            </a:avLst>
          </a:prstGeom>
          <a:solidFill>
            <a:srgbClr val="FFF1F2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662672" y="3410712"/>
            <a:ext cx="73152" cy="585216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27264" y="3483864"/>
            <a:ext cx="34564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5. disappointed_sad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defRPr sz="950" b="0">
                <a:solidFill>
                  <a:srgbClr val="334155"/>
                </a:solidFill>
                <a:latin typeface="Segoe UI"/>
              </a:defRPr>
            </a:pPr>
            <a:r>
              <a:t>Deep sorrow, sighing &amp; falling pitch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62672" y="4087368"/>
            <a:ext cx="3712463" cy="585216"/>
          </a:xfrm>
          <a:prstGeom prst="roundRect">
            <a:avLst>
              <a:gd name="adj" fmla="val 2500"/>
            </a:avLst>
          </a:prstGeom>
          <a:solidFill>
            <a:srgbClr val="FFF1F2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662672" y="4087368"/>
            <a:ext cx="73152" cy="585216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27264" y="4160520"/>
            <a:ext cx="34564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6. sarcasm_passive_aggression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defRPr sz="950" b="0">
                <a:solidFill>
                  <a:srgbClr val="334155"/>
                </a:solidFill>
                <a:latin typeface="Segoe UI"/>
              </a:defRPr>
            </a:pPr>
            <a:r>
              <a:t>Mocking politeness hiding hostility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62672" y="4764024"/>
            <a:ext cx="3712463" cy="585216"/>
          </a:xfrm>
          <a:prstGeom prst="roundRect">
            <a:avLst>
              <a:gd name="adj" fmla="val 2500"/>
            </a:avLst>
          </a:prstGeom>
          <a:solidFill>
            <a:srgbClr val="FFF1F2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662672" y="4764024"/>
            <a:ext cx="73152" cy="585216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27264" y="4837176"/>
            <a:ext cx="34564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7. anxiety_confusion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defRPr sz="950" b="0">
                <a:solidFill>
                  <a:srgbClr val="334155"/>
                </a:solidFill>
                <a:latin typeface="Segoe UI"/>
              </a:defRPr>
            </a:pPr>
            <a:r>
              <a:t>Shaky, nervous &amp; worried distress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62672" y="5440680"/>
            <a:ext cx="3712463" cy="585216"/>
          </a:xfrm>
          <a:prstGeom prst="roundRect">
            <a:avLst>
              <a:gd name="adj" fmla="val 2500"/>
            </a:avLst>
          </a:prstGeom>
          <a:solidFill>
            <a:srgbClr val="FFF1F2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662672" y="5440680"/>
            <a:ext cx="73152" cy="585216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27264" y="5513832"/>
            <a:ext cx="34564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8. urgency_panic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defRPr sz="950" b="0">
                <a:solidFill>
                  <a:srgbClr val="334155"/>
                </a:solidFill>
                <a:latin typeface="Segoe UI"/>
              </a:defRPr>
            </a:pPr>
            <a:r>
              <a:t>Frantic crisis &amp; immediate emergency request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9601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3. TRI-MODAL ARCHITECTURE  |  SYSTEM ONE ARBITRATION IN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058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How System One Arbitrates Sarcasm &amp; Contradictions in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515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Instead of trusting any single model, Kev acts as a System One arbitrator—weighing lexical words against SER tone and prosody.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37376"/>
            <a:ext cx="1100297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28816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Vocalis POC  |  Tri-Modal System One Architecture &amp; Dual UIs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28816"/>
            <a:ext cx="153619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34155"/>
                </a:solidFill>
                <a:latin typeface="Segoe UI"/>
              </a:defRPr>
            </a:pPr>
            <a:r>
              <a:t>10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4754880" cy="14173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417320"/>
            <a:ext cx="73152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527048"/>
            <a:ext cx="43891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 sz="1000" b="1">
                <a:solidFill>
                  <a:srgbClr val="2563EB"/>
                </a:solidFill>
                <a:latin typeface="Segoe UI"/>
              </a:defRPr>
            </a:pPr>
            <a:r>
              <a:t>SIGNAL 1: SPOKEN WORDS (Whisper ASR)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0F172A"/>
                </a:solidFill>
                <a:latin typeface="Segoe UI"/>
              </a:defRPr>
            </a:pPr>
            <a:r>
              <a:t>「Thank you so much for the help today.」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defRPr sz="1000" b="1">
                <a:solidFill>
                  <a:srgbClr val="64748B"/>
                </a:solidFill>
                <a:latin typeface="Segoe UI"/>
              </a:defRPr>
            </a:pPr>
            <a:r>
              <a:t>Surface Lexical Meaning: Polite &amp; Grateful (+)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468112" y="1984248"/>
            <a:ext cx="411480" cy="292608"/>
          </a:xfrm>
          <a:prstGeom prst="rightArrow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94360" y="3017520"/>
            <a:ext cx="4754880" cy="14173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3017520"/>
            <a:ext cx="73152" cy="141732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127248"/>
            <a:ext cx="43891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 sz="1000" b="1">
                <a:solidFill>
                  <a:srgbClr val="E11D48"/>
                </a:solidFill>
                <a:latin typeface="Segoe UI"/>
              </a:defRPr>
            </a:pPr>
            <a:r>
              <a:t>SIGNAL 2: ACOUSTIC TONE (Emotion2Vec+)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0F172A"/>
                </a:solidFill>
                <a:latin typeface="Segoe UI"/>
              </a:defRPr>
            </a:pPr>
            <a:r>
              <a:t>Acoustic Prior: sad (82% confidence)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defRPr sz="1000" b="1">
                <a:solidFill>
                  <a:srgbClr val="64748B"/>
                </a:solidFill>
                <a:latin typeface="Segoe UI"/>
              </a:defRPr>
            </a:pPr>
            <a:r>
              <a:t>Vocal Timbre: Pronounced Sadness (-)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468112" y="3584448"/>
            <a:ext cx="411480" cy="292608"/>
          </a:xfrm>
          <a:prstGeom prst="rightArrow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4360" y="4617720"/>
            <a:ext cx="4754880" cy="14173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4617720"/>
            <a:ext cx="73152" cy="1417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4727448"/>
            <a:ext cx="43891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 sz="1000" b="1">
                <a:solidFill>
                  <a:srgbClr val="D97706"/>
                </a:solidFill>
                <a:latin typeface="Segoe UI"/>
              </a:defRPr>
            </a:pPr>
            <a:r>
              <a:t>SIGNAL 3: PHYSICAL PROSODY (Librosa DSP)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0F172A"/>
                </a:solidFill>
                <a:latin typeface="Segoe UI"/>
              </a:defRPr>
            </a:pPr>
            <a:r>
              <a:t>Pitch: 193 Hz (downward falling terminal contour)</a:t>
            </a:r>
            <a:br/>
            <a:r>
              <a:t>Tempo: 3.4 onsets/sec (slow, subdued cadence)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defRPr sz="1000" b="1">
                <a:solidFill>
                  <a:srgbClr val="64748B"/>
                </a:solidFill>
                <a:latin typeface="Segoe UI"/>
              </a:defRPr>
            </a:pPr>
            <a:r>
              <a:t>Physical Delivery: Defeated / Dragging (-)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468112" y="5184648"/>
            <a:ext cx="411480" cy="292608"/>
          </a:xfrm>
          <a:prstGeom prst="rightArrow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89320" y="1417320"/>
            <a:ext cx="5608015" cy="46177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89320" y="1417320"/>
            <a:ext cx="560801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63640" y="1645920"/>
            <a:ext cx="3474720" cy="310896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THE ARBITRATOR: KEV-4B SYSTEM ONE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103120"/>
            <a:ext cx="507492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How System One Resolves Tension in 1 Forward Pass: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1. Cross-Attends Lexicon vs. Acoustics: Detects that polite words ('Thank you') contradict the 82% sad tone and falling pitch contour.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2. Suppresses Literal Confidence: Down-weights 'satisfaction_gratitude' confidence from 91% down to 36.8%.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defRPr sz="1100" b="1">
                <a:solidFill>
                  <a:srgbClr val="E11D48"/>
                </a:solidFill>
                <a:latin typeface="Segoe UI"/>
              </a:defRPr>
            </a:pPr>
            <a:r>
              <a:t>3. Triggers Sarcasm Detector: Directly outputs `sarcasm_detected = 57.2%` (`sarcasm_flag = True`) via the `noul` head.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4160520"/>
            <a:ext cx="5056632" cy="1645920"/>
          </a:xfrm>
          <a:prstGeom prst="roundRect">
            <a:avLst>
              <a:gd name="adj" fmla="val 2500"/>
            </a:avLst>
          </a:prstGeom>
          <a:solidFill>
            <a:srgbClr val="FFF1F2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4160520"/>
            <a:ext cx="73152" cy="164592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4297680"/>
            <a:ext cx="46634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050" b="1">
                <a:solidFill>
                  <a:srgbClr val="E11D48"/>
                </a:solidFill>
                <a:latin typeface="Segoe UI"/>
              </a:defRPr>
            </a:pPr>
            <a:r>
              <a:t>FINAL ARBITRATED DECISION (rec_1791807581.wav)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Sarcasm Flag: TRUE (57.2% probability)</a:t>
            </a:r>
            <a:br/>
            <a:r>
              <a:t>• Emotion Breakdown: 44.7% Ironic Gratitude | 19.0% Sad | 7.8% Sarcasm</a:t>
            </a:r>
            <a:br/>
            <a:r>
              <a:t>• Calibrated Sentiment: NEGATIVE (62.3% polarity)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9601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3. TRI-MODAL ARCHITECTURE  |  EXACT SYSTEM ONE PROMPT &amp;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058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Exact Prompt Passed to Kev System One (`/v1/systemone`) &amp; Raw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515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Below is the exact verbatim prompt (`state` + `questions`) sent to Kev-4B and its single-pass PointerHead JSON response.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37376"/>
            <a:ext cx="1100297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28816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Vocalis POC  |  Tri-Modal System One Architecture &amp; Dual UIs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28816"/>
            <a:ext cx="153619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34155"/>
                </a:solidFill>
                <a:latin typeface="Segoe UI"/>
              </a:defRPr>
            </a:pPr>
            <a:r>
              <a:t>11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53312"/>
            <a:ext cx="6263640" cy="4919472"/>
          </a:xfrm>
          <a:prstGeom prst="roundRect">
            <a:avLst>
              <a:gd name="adj" fmla="val 2500"/>
            </a:avLst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353312"/>
            <a:ext cx="62636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481328"/>
            <a:ext cx="585216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050" b="1">
                <a:solidFill>
                  <a:srgbClr val="38BDF8"/>
                </a:solidFill>
                <a:latin typeface="Segoe UI"/>
              </a:defRPr>
            </a:pPr>
            <a:r>
              <a:t>1. EXACT `state` STRING PASSED TO SYSTEM ONE: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defRPr sz="980" b="0">
                <a:solidFill>
                  <a:srgbClr val="FFFFFF"/>
                </a:solidFill>
                <a:latin typeface="Consolas"/>
              </a:defRPr>
            </a:pPr>
            <a:r>
              <a:t>Speaker transcript: 「Thank you so much for the help today.」</a:t>
            </a:r>
            <a:br/>
            <a:r>
              <a:t>Acoustic speech emotion prior: sad (confidence: 82%)</a:t>
            </a:r>
            <a:br/>
            <a:r>
              <a:t>Prosodic acoustic features:</a:t>
            </a:r>
            <a:br/>
            <a:r>
              <a:t>- Pitch contour: 193.0 Hz (std: 49.0 Hz, downward falling terminal contour)</a:t>
            </a:r>
            <a:br/>
            <a:r>
              <a:t>- Speech tempo: 3.4 onsets/sec (slow / measured / subdued pace)</a:t>
            </a:r>
            <a:br/>
            <a:r>
              <a:t>- Energy &amp; vocal intensity: 73.5 dB (moderate baseline business volume)</a:t>
            </a:r>
            <a:br/>
            <a:r>
              <a:t>- Voice quality: standard modal phonation, clean harmonic structure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050" b="1">
                <a:solidFill>
                  <a:srgbClr val="FBBF24"/>
                </a:solidFill>
                <a:latin typeface="Segoe UI"/>
              </a:defRPr>
            </a:pPr>
            <a:r>
              <a:t>2. EXACT `questions` TYPED SCHEMA PASSED TO KEV: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defRPr sz="819" b="0">
                <a:solidFill>
                  <a:srgbClr val="CBD5E1"/>
                </a:solidFill>
                <a:latin typeface="Consolas"/>
              </a:defRPr>
            </a:pPr>
            <a:r>
              <a:t>{</a:t>
            </a:r>
            <a:br/>
            <a:r>
              <a:t>  "detected_emotion": {</a:t>
            </a:r>
            <a:br/>
            <a:r>
              <a:t>    "type": "choice",</a:t>
            </a:r>
            <a:br/>
            <a:r>
              <a:t>    "instructions": "Analyze the caller's spoken statement in the full</a:t>
            </a:r>
            <a:br/>
            <a:r>
              <a:t>      context of their vocal acoustics and delivery. Resolve any tension</a:t>
            </a:r>
            <a:br/>
            <a:r>
              <a:t>      between the words and vocal tone (e.g. sarcasm, polite complaints)...",</a:t>
            </a:r>
            <a:br/>
            <a:r>
              <a:t>    "criteria": {</a:t>
            </a:r>
            <a:br/>
            <a:r>
              <a:t>      "satisfaction_gratitude": "Delight, genuine satisfaction...",</a:t>
            </a:r>
            <a:br/>
            <a:r>
              <a:t>      "neutral_inquiry": "Calm routine business inquiry...",</a:t>
            </a:r>
            <a:br/>
            <a:r>
              <a:t>      "frustration_irritation": "Annoyance, impatient complaints...",</a:t>
            </a:r>
            <a:br/>
            <a:r>
              <a:t>      "outrage_hostility": "Extreme fury, aggressive hostility...",</a:t>
            </a:r>
            <a:br/>
            <a:r>
              <a:t>      "disappointed_sad": "Sorrow, deep sadness, heavy sighing...",</a:t>
            </a:r>
            <a:br/>
            <a:r>
              <a:t>      "sarcasm_passive_aggression": "Ironic praise, mocking cynicism...",</a:t>
            </a:r>
            <a:br/>
            <a:r>
              <a:t>      "anxiety_confusion": "Nervous panic, trembling uncertainty...",</a:t>
            </a:r>
            <a:br/>
            <a:r>
              <a:t>      "urgency_panic": "Critical crisis, urgent emergency..."</a:t>
            </a:r>
            <a:br/>
            <a:r>
              <a:t>    }</a:t>
            </a:r>
            <a:br/>
            <a:r>
              <a:t>  },</a:t>
            </a:r>
            <a:br/>
            <a:r>
              <a:t>  "sarcasm_detected": {</a:t>
            </a:r>
            <a:br/>
            <a:r>
              <a:t>    "type": "noul",</a:t>
            </a:r>
            <a:br/>
            <a:r>
              <a:t>    "instructions": "Is the speaker using sarcasm, irony, or passive-</a:t>
            </a:r>
            <a:br/>
            <a:r>
              <a:t>      aggressive politeness that contradicts their vocal tone?"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0" y="1353312"/>
            <a:ext cx="4553712" cy="2971800"/>
          </a:xfrm>
          <a:prstGeom prst="roundRect">
            <a:avLst>
              <a:gd name="adj" fmla="val 2500"/>
            </a:avLst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40880" y="1353312"/>
            <a:ext cx="4553712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42048" y="1481328"/>
            <a:ext cx="4160520" cy="2697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050" b="1">
                <a:solidFill>
                  <a:srgbClr val="34D399"/>
                </a:solidFill>
                <a:latin typeface="Segoe UI"/>
              </a:defRPr>
            </a:pPr>
            <a:r>
              <a:t>3. EXACT `/v1/systemone` JSON OUTPUT: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defRPr sz="919" b="0">
                <a:solidFill>
                  <a:srgbClr val="FFFFFF"/>
                </a:solidFill>
                <a:latin typeface="Consolas"/>
              </a:defRPr>
            </a:pPr>
            <a:r>
              <a:t>{</a:t>
            </a:r>
            <a:br/>
            <a:r>
              <a:t>  "answers": {</a:t>
            </a:r>
            <a:br/>
            <a:r>
              <a:t>    "detected_emotion": {</a:t>
            </a:r>
            <a:br/>
            <a:r>
              <a:t>      "choice": "satisfaction_gratitude",</a:t>
            </a:r>
            <a:br/>
            <a:r>
              <a:t>      "confidence": 0.3683,</a:t>
            </a:r>
            <a:br/>
            <a:r>
              <a:t>      "probabilities": {</a:t>
            </a:r>
            <a:br/>
            <a:r>
              <a:t>        "satisfaction_gratitude": 0.4472,</a:t>
            </a:r>
            <a:br/>
            <a:r>
              <a:t>        "neutral_inquiry": 0.2391,</a:t>
            </a:r>
            <a:br/>
            <a:r>
              <a:t>        "disappointed_sad": 0.1900,</a:t>
            </a:r>
            <a:br/>
            <a:r>
              <a:t>        "sarcasm_passive_aggression": 0.0778</a:t>
            </a:r>
            <a:br/>
            <a:r>
              <a:t>      }</a:t>
            </a:r>
            <a:br/>
            <a:r>
              <a:t>    },</a:t>
            </a:r>
            <a:br/>
            <a:r>
              <a:t>    "sarcasm_detected": {</a:t>
            </a:r>
            <a:br/>
            <a:r>
              <a:t>      "noul": 0.5715</a:t>
            </a:r>
            <a:br/>
            <a:r>
              <a:t>    }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4480560"/>
            <a:ext cx="4553712" cy="1792224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4480560"/>
            <a:ext cx="73152" cy="179222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42048" y="4590288"/>
            <a:ext cx="420624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D97706"/>
                </a:solidFill>
                <a:latin typeface="Segoe UI"/>
              </a:defRPr>
            </a:pPr>
            <a:r>
              <a:t>Why Include Both Numbers &amp; Natural Language?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defRPr sz="1000" b="0">
                <a:solidFill>
                  <a:srgbClr val="334155"/>
                </a:solidFill>
                <a:latin typeface="Segoe UI"/>
              </a:defRPr>
            </a:pPr>
            <a:r>
              <a:t>• Semantic Labels ('downward falling contour', 'slow pace') trigger Kev's contextual language models.</a:t>
            </a:r>
            <a:br/>
            <a:r>
              <a:t>• Numerical Anchors ('82%', '193 Hz') provide exact physical scaling at zero extra latency.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9601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4. MAJOR FOCUS #1  |  RESEARCH &amp; SHORTLISTED 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058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Shortlisted Architectures Evaluated &amp; Trade-Off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515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We evaluated 5 distinct model architectures across accuracy, Japanese robustness, sarcasm detection, and 4 GB GPU speed.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37376"/>
            <a:ext cx="1100297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28816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Vocalis POC  |  Tri-Modal System One Architecture &amp; Dual UIs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28816"/>
            <a:ext cx="153619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34155"/>
                </a:solidFill>
                <a:latin typeface="Segoe UI"/>
              </a:defRPr>
            </a:pPr>
            <a:r>
              <a:t>12 / 19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371600"/>
          <a:ext cx="1100297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920240"/>
                <a:gridCol w="1554480"/>
                <a:gridCol w="3230575"/>
                <a:gridCol w="2103120"/>
              </a:tblGrid>
              <a:tr h="807720">
                <a:tc>
                  <a:txBody>
                    <a:bodyPr wrap="square"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Option Evaluated</a:t>
                      </a:r>
                    </a:p>
                  </a:txBody>
                  <a:tcPr anchor="ctr" marL="109728" marR="109728" marT="54864" marB="54864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Models Tested</a:t>
                      </a:r>
                    </a:p>
                  </a:txBody>
                  <a:tcPr anchor="ctr" marL="109728" marR="109728" marT="54864" marB="54864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Speed &amp; VRAM</a:t>
                      </a:r>
                    </a:p>
                  </a:txBody>
                  <a:tcPr anchor="ctr" marL="109728" marR="109728" marT="54864" marB="54864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Key Trade-Off Observed</a:t>
                      </a:r>
                    </a:p>
                  </a:txBody>
                  <a:tcPr anchor="ctr" marL="109728" marR="109728" marT="54864" marB="54864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Decision</a:t>
                      </a:r>
                    </a:p>
                  </a:txBody>
                  <a:tcPr anchor="ctr" marL="109728" marR="109728" marT="54864" marB="54864">
                    <a:solidFill>
                      <a:srgbClr val="0F172A"/>
                    </a:solidFill>
                  </a:tcPr>
                </a:tc>
              </a:tr>
              <a:tr h="807720">
                <a:tc>
                  <a:txBody>
                    <a:bodyPr wrap="square"/>
                    <a:lstStyle/>
                    <a:p>
                      <a:pPr algn="l">
                        <a:defRPr sz="10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1. Standalone SER</a:t>
                      </a:r>
                    </a:p>
                  </a:txBody>
                  <a:tcPr anchor="ctr"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Emotion2Vec+ Large,</a:t>
                      </a:r>
                      <a:br/>
                      <a:r>
                        <a:t>ehcalabres XLSR, Bagus</a:t>
                      </a:r>
                    </a:p>
                  </a:txBody>
                  <a:tcPr anchor="ctr"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203 ms / clip</a:t>
                      </a:r>
                      <a:br/>
                      <a:r>
                        <a:t>1.24 GB VRAM</a:t>
                      </a:r>
                    </a:p>
                  </a:txBody>
                  <a:tcPr anchor="ctr"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Strong on acted English (86%), but deaf to words and fails on 74% of Japanese clips (26.1% acc).</a:t>
                      </a:r>
                    </a:p>
                  </a:txBody>
                  <a:tcPr anchor="ctr"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E11D48"/>
                          </a:solidFill>
                          <a:latin typeface="Segoe UI"/>
                        </a:defRPr>
                      </a:pPr>
                      <a:r>
                        <a:t>❌ Reject Standalone</a:t>
                      </a:r>
                      <a:br/>
                      <a:r>
                        <a:t>(Retained as Stage-2 Prior)</a:t>
                      </a:r>
                    </a:p>
                  </a:txBody>
                  <a:tcPr anchor="ctr" marL="109728" marR="109728" marT="54864" marB="54864"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 wrap="square"/>
                    <a:lstStyle/>
                    <a:p>
                      <a:pPr algn="l">
                        <a:defRPr sz="10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2. Encoder Router</a:t>
                      </a:r>
                    </a:p>
                  </a:txBody>
                  <a:tcPr anchor="ctr" marL="109728" marR="109728" marT="54864" marB="54864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Laya mmBERT</a:t>
                      </a:r>
                      <a:br/>
                      <a:r>
                        <a:t>(Multilingual Encoder)</a:t>
                      </a:r>
                    </a:p>
                  </a:txBody>
                  <a:tcPr anchor="ctr" marL="109728" marR="109728" marT="54864" marB="54864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112 ms / clip</a:t>
                      </a:r>
                      <a:br/>
                      <a:r>
                        <a:t>0.95 GB VRAM</a:t>
                      </a:r>
                    </a:p>
                  </a:txBody>
                  <a:tcPr anchor="ctr" marL="109728" marR="109728" marT="54864" marB="54864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Fast and lightweight (66.7% acc), but lacks reasoning depth to resolve polite sarcasm.</a:t>
                      </a:r>
                    </a:p>
                  </a:txBody>
                  <a:tcPr anchor="ctr" marL="109728" marR="109728" marT="54864" marB="54864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D97706"/>
                          </a:solidFill>
                          <a:latin typeface="Segoe UI"/>
                        </a:defRPr>
                      </a:pPr>
                      <a:r>
                        <a:t>⚠️ Superseded</a:t>
                      </a:r>
                      <a:br/>
                      <a:r>
                        <a:t>(Beat by Kev +11.6%)</a:t>
                      </a:r>
                    </a:p>
                  </a:txBody>
                  <a:tcPr anchor="ctr" marL="109728" marR="109728" marT="54864" marB="54864">
                    <a:solidFill>
                      <a:srgbClr val="F8FAFC"/>
                    </a:solidFill>
                  </a:tcPr>
                </a:tc>
              </a:tr>
              <a:tr h="807720">
                <a:tc>
                  <a:txBody>
                    <a:bodyPr wrap="square"/>
                    <a:lstStyle/>
                    <a:p>
                      <a:pPr algn="l">
                        <a:defRPr sz="10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3. Native Audio LLM</a:t>
                      </a:r>
                    </a:p>
                  </a:txBody>
                  <a:tcPr anchor="ctr"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Qwen2.5-Omni-3B</a:t>
                      </a:r>
                      <a:br/>
                      <a:r>
                        <a:t>(Q4_K_M + mmproj GGUF)</a:t>
                      </a:r>
                    </a:p>
                  </a:txBody>
                  <a:tcPr anchor="ctr"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23,670 ms / clip</a:t>
                      </a:r>
                      <a:br/>
                      <a:r>
                        <a:t>3.64 GB Disk/VRAM</a:t>
                      </a:r>
                    </a:p>
                  </a:txBody>
                  <a:tcPr anchor="ctr"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10x too slow; experimental llama.cpp audio projector loses subtle tone and predicts 'happy'.</a:t>
                      </a:r>
                    </a:p>
                  </a:txBody>
                  <a:tcPr anchor="ctr"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E11D48"/>
                          </a:solidFill>
                          <a:latin typeface="Segoe UI"/>
                        </a:defRPr>
                      </a:pPr>
                      <a:r>
                        <a:t>❌ Reject for 4 GB Edge</a:t>
                      </a:r>
                      <a:br/>
                      <a:r>
                        <a:t>(Excessive Latency)</a:t>
                      </a:r>
                    </a:p>
                  </a:txBody>
                  <a:tcPr anchor="ctr" marL="109728" marR="109728" marT="54864" marB="54864"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 wrap="square"/>
                    <a:lstStyle/>
                    <a:p>
                      <a:pPr algn="l">
                        <a:defRPr sz="10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4. Post-LLM Math Fusion</a:t>
                      </a:r>
                    </a:p>
                  </a:txBody>
                  <a:tcPr anchor="ctr" marL="109728" marR="109728" marT="54864" marB="54864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Confidence-Weighted</a:t>
                      </a:r>
                      <a:br/>
                      <a:r>
                        <a:t>SER + Kev Fusion</a:t>
                      </a:r>
                    </a:p>
                  </a:txBody>
                  <a:tcPr anchor="ctr" marL="109728" marR="109728" marT="54864" marB="54864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650–3,000 ms</a:t>
                      </a:r>
                      <a:br/>
                      <a:r>
                        <a:t>1.2–2.4 GB VRAM</a:t>
                      </a:r>
                    </a:p>
                  </a:txBody>
                  <a:tcPr anchor="ctr" marL="109728" marR="109728" marT="54864" marB="54864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Double-counts SER and gets overpowered by Emotion2Vec+'s 95%-confident Japanese errors (60% acc).</a:t>
                      </a:r>
                    </a:p>
                  </a:txBody>
                  <a:tcPr anchor="ctr" marL="109728" marR="109728" marT="54864" marB="54864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E11D48"/>
                          </a:solidFill>
                          <a:latin typeface="Segoe UI"/>
                        </a:defRPr>
                      </a:pPr>
                      <a:r>
                        <a:t>❌ Reject Late Fusion</a:t>
                      </a:r>
                      <a:br/>
                      <a:r>
                        <a:t>(Biased toward SER)</a:t>
                      </a:r>
                    </a:p>
                  </a:txBody>
                  <a:tcPr anchor="ctr" marL="109728" marR="109728" marT="54864" marB="54864">
                    <a:solidFill>
                      <a:srgbClr val="F8FAFC"/>
                    </a:solidFill>
                  </a:tcPr>
                </a:tc>
              </a:tr>
              <a:tr h="807720">
                <a:tc>
                  <a:txBody>
                    <a:bodyPr wrap="square"/>
                    <a:lstStyle/>
                    <a:p>
                      <a:pPr algn="l">
                        <a:defRPr sz="105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5. Tri-Modal System One Arbitrage</a:t>
                      </a:r>
                    </a:p>
                  </a:txBody>
                  <a:tcPr anchor="ctr" marL="109728" marR="109728" marT="54864" marB="54864"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Whisper INT8 + E2V+ +</a:t>
                      </a:r>
                      <a:br/>
                      <a:r>
                        <a:t>Librosa + Kev-4B / 0.8B</a:t>
                      </a:r>
                    </a:p>
                  </a:txBody>
                  <a:tcPr anchor="ctr" marL="109728" marR="109728" marT="54864" marB="54864"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0.8B: 592 ms</a:t>
                      </a:r>
                      <a:br/>
                      <a:r>
                        <a:t>4B: 2,950 ms</a:t>
                      </a:r>
                      <a:br/>
                      <a:r>
                        <a:t>(&lt;4 GB Staged)</a:t>
                      </a:r>
                    </a:p>
                  </a:txBody>
                  <a:tcPr anchor="ctr" marL="109728" marR="109728" marT="54864" marB="54864"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Single forward-pass PointerHead; catches sarcasm natively; 83.3% call sentiment &amp; 100% JVNV-JA.</a:t>
                      </a:r>
                    </a:p>
                  </a:txBody>
                  <a:tcPr anchor="ctr" marL="109728" marR="109728" marT="54864" marB="54864"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✅ SELECTED WINNER</a:t>
                      </a:r>
                      <a:br/>
                      <a:r>
                        <a:t>(Production Architecture)</a:t>
                      </a:r>
                    </a:p>
                  </a:txBody>
                  <a:tcPr anchor="ctr" marL="109728" marR="109728" marT="54864" marB="54864"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9601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4. MAJOR FOCUS #1  |  ARCHITECTURAL TRADE-OFFS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058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Why Tri-Modal Prompt Priming Beat Late Fusion &amp; Qwen-Omni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515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Three critical experiments proved why early prompt priming inside Kev is superior to mathematical score fusion.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37376"/>
            <a:ext cx="1100297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28816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Vocalis POC  |  Tri-Modal System One Architecture &amp; Dual UIs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28816"/>
            <a:ext cx="153619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34155"/>
                </a:solidFill>
                <a:latin typeface="Segoe UI"/>
              </a:defRPr>
            </a:pPr>
            <a:r>
              <a:t>13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3547872" cy="4800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389888"/>
            <a:ext cx="3547872" cy="54864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627632"/>
            <a:ext cx="3182112" cy="274320"/>
          </a:xfrm>
          <a:prstGeom prst="roundRect">
            <a:avLst>
              <a:gd name="adj" fmla="val 50000"/>
            </a:avLst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80" b="1">
                <a:solidFill>
                  <a:srgbClr val="E11D48"/>
                </a:solidFill>
                <a:latin typeface="Segoe UI"/>
              </a:defRPr>
            </a:pPr>
            <a:r>
              <a:t>EXPERIMENT 1: WITHOUT SER PRIOR IN 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057400"/>
            <a:ext cx="315468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Why Prosody Labels Alone Aren't Enough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defRPr sz="1080" b="0">
                <a:solidFill>
                  <a:srgbClr val="334155"/>
                </a:solidFill>
                <a:latin typeface="Segoe UI"/>
              </a:defRPr>
            </a:pPr>
            <a:r>
              <a:t>• Tested feeding Kev-4B ONLY natural-language prosody labels (no 'sad 82%' SER prior).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defRPr sz="1080" b="0">
                <a:solidFill>
                  <a:srgbClr val="334155"/>
                </a:solidFill>
                <a:latin typeface="Segoe UI"/>
              </a:defRPr>
            </a:pPr>
            <a:r>
              <a:t>• Result: Polite words ('Thank you so much') overwhelmed soft prosody adjectives.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defRPr sz="1080" b="0">
                <a:solidFill>
                  <a:srgbClr val="334155"/>
                </a:solidFill>
                <a:latin typeface="Segoe UI"/>
              </a:defRPr>
            </a:pPr>
            <a:r>
              <a:t>• Kev became 91.2% overconfident in 'Gratitude' and missed sarcasm (15.9%).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defRPr sz="1080" b="1">
                <a:solidFill>
                  <a:srgbClr val="E11D48"/>
                </a:solidFill>
                <a:latin typeface="Segoe UI"/>
              </a:defRPr>
            </a:pPr>
            <a:r>
              <a:t>➔ Takeaway: Kev requires the explicit SER prior inside its prompt attention to doubt polite words.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389888"/>
            <a:ext cx="3547872" cy="4800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389888"/>
            <a:ext cx="3547872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07992" y="1627632"/>
            <a:ext cx="3182112" cy="274320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80" b="1">
                <a:solidFill>
                  <a:srgbClr val="D97706"/>
                </a:solidFill>
                <a:latin typeface="Segoe UI"/>
              </a:defRPr>
            </a:pPr>
            <a:r>
              <a:t>EXPERIMENT 2: POST-LLM MATHEMATICAL FUSION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057400"/>
            <a:ext cx="315468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Why Averaging Probabilities After Kev Fails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defRPr sz="1080" b="0">
                <a:solidFill>
                  <a:srgbClr val="334155"/>
                </a:solidFill>
                <a:latin typeface="Segoe UI"/>
              </a:defRPr>
            </a:pPr>
            <a:r>
              <a:t>• Tested combining Kev's output probabilities with Emotion2Vec+ via confidence-weighted math.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defRPr sz="1080" b="0">
                <a:solidFill>
                  <a:srgbClr val="334155"/>
                </a:solidFill>
                <a:latin typeface="Segoe UI"/>
              </a:defRPr>
            </a:pPr>
            <a:r>
              <a:t>• Result: Dropped 60-clip multilingual accuracy from 78.3% down to 60.0% (-18.3%).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defRPr sz="1080" b="0">
                <a:solidFill>
                  <a:srgbClr val="334155"/>
                </a:solidFill>
                <a:latin typeface="Segoe UI"/>
              </a:defRPr>
            </a:pPr>
            <a:r>
              <a:t>• Root Cause: Emotion2Vec+ outputs 85%–99% confidence when hallucinating 'happy' on Japanese.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defRPr sz="1080" b="1">
                <a:solidFill>
                  <a:srgbClr val="D97706"/>
                </a:solidFill>
                <a:latin typeface="Segoe UI"/>
              </a:defRPr>
            </a:pPr>
            <a:r>
              <a:t>➔ Takeaway: Late fusion double-counts SER and overrides linguistic common sense.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5864" y="1389888"/>
            <a:ext cx="3547872" cy="4800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55864" y="1389888"/>
            <a:ext cx="354787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38744" y="1627632"/>
            <a:ext cx="3182112" cy="27432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80" b="1">
                <a:solidFill>
                  <a:srgbClr val="2563EB"/>
                </a:solidFill>
                <a:latin typeface="Segoe UI"/>
              </a:defRPr>
            </a:pPr>
            <a:r>
              <a:t>EXPERIMENT 3: NATIVE AUDIO LLM (QWEN-OMNI-3B)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2" y="2057400"/>
            <a:ext cx="315468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Why End-to-End Audio GGUF Failed on Edge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defRPr sz="1080" b="0">
                <a:solidFill>
                  <a:srgbClr val="334155"/>
                </a:solidFill>
                <a:latin typeface="Segoe UI"/>
              </a:defRPr>
            </a:pPr>
            <a:r>
              <a:t>• Tested quantized `Qwen2.5-Omni-3B-Q4_K_M.gguf` + `mmproj-Q8_0.gguf` (3.64 GB).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defRPr sz="1080" b="0">
                <a:solidFill>
                  <a:srgbClr val="334155"/>
                </a:solidFill>
                <a:latin typeface="Segoe UI"/>
              </a:defRPr>
            </a:pPr>
            <a:r>
              <a:t>• Result: Required 23.7 seconds for a 4.5s clip and predicted 'happy / positive' (0% sarcasm).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defRPr sz="1080" b="0">
                <a:solidFill>
                  <a:srgbClr val="334155"/>
                </a:solidFill>
                <a:latin typeface="Segoe UI"/>
              </a:defRPr>
            </a:pPr>
            <a:r>
              <a:t>• Root Cause: Quantized `mtmd` audio projector lost subtle pitch cues and mis-transcribed words.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defRPr sz="1080" b="1">
                <a:solidFill>
                  <a:srgbClr val="2563EB"/>
                </a:solidFill>
                <a:latin typeface="Segoe UI"/>
              </a:defRPr>
            </a:pPr>
            <a:r>
              <a:t>➔ Takeaway: Specialized staged models beat a single compressed omni model on 4 GB edge hardware.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9601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5. MAJOR FOCUS #2  |  TECH STACK &amp;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058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Production Tech Stack &amp; Concise 4-Step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515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A modular Python + C++ CUDA stack engineered to run entirely locally on a standard 4 GB consumer/edge GPU.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37376"/>
            <a:ext cx="1100297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28816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Vocalis POC  |  Tri-Modal System One Architecture &amp; Dual UIs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28816"/>
            <a:ext cx="153619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34155"/>
                </a:solidFill>
                <a:latin typeface="Segoe UI"/>
              </a:defRPr>
            </a:pPr>
            <a:r>
              <a:t>14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2633472" cy="2514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389888"/>
            <a:ext cx="263347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554480"/>
            <a:ext cx="2304288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 sz="950" b="1">
                <a:solidFill>
                  <a:srgbClr val="2563EB"/>
                </a:solidFill>
                <a:latin typeface="Segoe UI"/>
              </a:defRPr>
            </a:pPr>
            <a:r>
              <a:t>1. SPEECH-TO-TEXT (ASR)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250" b="1">
                <a:solidFill>
                  <a:srgbClr val="0F172A"/>
                </a:solidFill>
                <a:latin typeface="Segoe UI"/>
              </a:defRPr>
            </a:pPr>
            <a:r>
              <a:t>Faster-Whisper Large-v3 Turbo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defRPr sz="1019" b="0">
                <a:solidFill>
                  <a:srgbClr val="334155"/>
                </a:solidFill>
                <a:latin typeface="Segoe UI"/>
              </a:defRPr>
            </a:pPr>
            <a:r>
              <a:t>• INT8-FP16 (`CTranslate2`)</a:t>
            </a:r>
            <a:br/>
            <a:r>
              <a:t>• Silero VAD voice segmentation</a:t>
            </a:r>
            <a:br/>
            <a:r>
              <a:t>• Unified EN + JA transcription</a:t>
            </a:r>
            <a:br/>
            <a:r>
              <a:t>• 0.35x RTF (2.9x real-time)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0712" y="1389888"/>
            <a:ext cx="2633472" cy="2514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10712" y="1389888"/>
            <a:ext cx="2633472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75304" y="1554480"/>
            <a:ext cx="2304288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 sz="950" b="1">
                <a:solidFill>
                  <a:srgbClr val="D97706"/>
                </a:solidFill>
                <a:latin typeface="Segoe UI"/>
              </a:defRPr>
            </a:pPr>
            <a:r>
              <a:t>2. ACOUSTIC &amp; PROSODY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250" b="1">
                <a:solidFill>
                  <a:srgbClr val="0F172A"/>
                </a:solidFill>
                <a:latin typeface="Segoe UI"/>
              </a:defRPr>
            </a:pPr>
            <a:r>
              <a:t>Emotion2Vec+ &amp; Librosa DSP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defRPr sz="1019" b="0">
                <a:solidFill>
                  <a:srgbClr val="334155"/>
                </a:solidFill>
                <a:latin typeface="Segoe UI"/>
              </a:defRPr>
            </a:pPr>
            <a:r>
              <a:t>• `iic/emotion2vec_plus_large`</a:t>
            </a:r>
            <a:br/>
            <a:r>
              <a:t>• `Librosa` YIN F0 pitch &amp; slope</a:t>
            </a:r>
            <a:br/>
            <a:r>
              <a:t>• Silence-trimmed onset tempo</a:t>
            </a:r>
            <a:br/>
            <a:r>
              <a:t>• Raw dB intensity &amp; jitter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7064" y="1389888"/>
            <a:ext cx="2633472" cy="2514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27064" y="1389888"/>
            <a:ext cx="2633472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1656" y="1554480"/>
            <a:ext cx="2304288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 sz="950" b="1">
                <a:solidFill>
                  <a:srgbClr val="4F46E5"/>
                </a:solidFill>
                <a:latin typeface="Segoe UI"/>
              </a:defRPr>
            </a:pPr>
            <a:r>
              <a:t>3. SYSTEM ONE ARBITRATOR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250" b="1">
                <a:solidFill>
                  <a:srgbClr val="0F172A"/>
                </a:solidFill>
                <a:latin typeface="Segoe UI"/>
              </a:defRPr>
            </a:pPr>
            <a:r>
              <a:t>Kev-4B &amp; Kev-0.8B (GGUF)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defRPr sz="1019" b="0">
                <a:solidFill>
                  <a:srgbClr val="334155"/>
                </a:solidFill>
                <a:latin typeface="Segoe UI"/>
              </a:defRPr>
            </a:pPr>
            <a:r>
              <a:t>• `Kev-4B-Q4_K_M.gguf` (2.4 GB)</a:t>
            </a:r>
            <a:br/>
            <a:r>
              <a:t>• `Kev-0.8B-Q8_0.gguf` (803 MB)</a:t>
            </a:r>
            <a:br/>
            <a:r>
              <a:t>• Custom C++ `llama-server.exe`</a:t>
            </a:r>
            <a:br/>
            <a:r>
              <a:t>• `/v1/systemone` PointerHead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43416" y="1389888"/>
            <a:ext cx="2633472" cy="2514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43416" y="1389888"/>
            <a:ext cx="2633472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08008" y="1554480"/>
            <a:ext cx="2304288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 sz="950" b="1">
                <a:solidFill>
                  <a:srgbClr val="059669"/>
                </a:solidFill>
                <a:latin typeface="Segoe UI"/>
              </a:defRPr>
            </a:pPr>
            <a:r>
              <a:t>4. FULL-STACK STUDIO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250" b="1">
                <a:solidFill>
                  <a:srgbClr val="0F172A"/>
                </a:solidFill>
                <a:latin typeface="Segoe UI"/>
              </a:defRPr>
            </a:pPr>
            <a:r>
              <a:t>FastAPI + React 19 UI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defRPr sz="1019" b="0">
                <a:solidFill>
                  <a:srgbClr val="334155"/>
                </a:solidFill>
                <a:latin typeface="Segoe UI"/>
              </a:defRPr>
            </a:pPr>
            <a:r>
              <a:t>• Async FastAPI REST backend</a:t>
            </a:r>
            <a:br/>
            <a:r>
              <a:t>• React 19 + TypeScript + Vite</a:t>
            </a:r>
            <a:br/>
            <a:r>
              <a:t>• Live Mic Studio &amp; Clip Inspector</a:t>
            </a:r>
            <a:br/>
            <a:r>
              <a:t>• 3-Sentiment + 8-Emotion views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133087"/>
            <a:ext cx="11002975" cy="2103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4133087"/>
            <a:ext cx="73152" cy="2103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279392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250" b="1">
                <a:solidFill>
                  <a:srgbClr val="2563EB"/>
                </a:solidFill>
                <a:latin typeface="Segoe UI"/>
              </a:defRPr>
            </a:pPr>
            <a:r>
              <a:t>CONCISE 4-STEP SETUP WORKFLOW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0F172A"/>
                </a:solidFill>
                <a:latin typeface="Segoe UI"/>
              </a:defRPr>
            </a:pPr>
            <a:r>
              <a:t>Step 1 — Python &amp; CUDA Environment:  Install Python 3.11 venv with PyTorch 2.6 (CUDA 12.4), `faster-whisper`, `funasr`, and `librosa`.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0F172A"/>
                </a:solidFill>
                <a:latin typeface="Segoe UI"/>
              </a:defRPr>
            </a:pPr>
            <a:r>
              <a:t>Step 2 — Pre-Quantized GGUF Models:  Place `Kev-4B-Q4_K_M.gguf` &amp; `Kev-0.8B-Q8_0.gguf` in `data/models/` alongside `tools/llama/llama-server.exe`.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0F172A"/>
                </a:solidFill>
                <a:latin typeface="Segoe UI"/>
              </a:defRPr>
            </a:pPr>
            <a:r>
              <a:t>Step 3 — Start Backend Server:       Run `python -m uvicorn backend.app:app --port 8000` (auto-manages GPU model loading &amp; eviction).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0F172A"/>
                </a:solidFill>
                <a:latin typeface="Segoe UI"/>
              </a:defRPr>
            </a:pPr>
            <a:r>
              <a:t>Step 4 — Start React Studio UI:      Run `npm run dev -- --port 5173` inside `web/` to launch Live Studio, Inspector &amp; Benchmark Explorer.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9601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5. MAJOR FOCUS #2  |  4 GB EDGE HARDWARE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058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Fitting 5.2 GB of Models into an NVIDIA GeForce GTX 1650 (4 GB VRAM)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515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Zero-OOM execution on a 4,096 MB GPU achieved through deterministic sequential load-infer-evict staging.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37376"/>
            <a:ext cx="1100297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28816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Vocalis POC  |  Tri-Modal System One Architecture &amp; Dual UIs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28816"/>
            <a:ext cx="153619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34155"/>
                </a:solidFill>
                <a:latin typeface="Segoe UI"/>
              </a:defRPr>
            </a:pPr>
            <a:r>
              <a:t>15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71600"/>
            <a:ext cx="5806440" cy="48463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vram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08760"/>
            <a:ext cx="5623560" cy="326529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0" y="1371600"/>
            <a:ext cx="5010912" cy="48463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0" y="1371600"/>
            <a:ext cx="5010912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1572768"/>
            <a:ext cx="457200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Deterministic VRAM Staging on NVIDIA GTX 1650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• Hardware Specification: NVIDIA GeForce GTX 1650 (4 GB GDDR6, Turing Architecture, 4,096 MB hardware ceiling).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050" b="0">
                <a:solidFill>
                  <a:srgbClr val="334155"/>
                </a:solidFill>
                <a:latin typeface="Segoe UI"/>
              </a:defRPr>
            </a:pPr>
            <a:r>
              <a:t>1. Stage 1 (ASR): Load Faster-Whisper INT8 (1,120 MB) ➔ Transcribe speech ➔ `del model` + `torch.cuda.empty_cache()`.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050" b="0">
                <a:solidFill>
                  <a:srgbClr val="334155"/>
                </a:solidFill>
                <a:latin typeface="Segoe UI"/>
              </a:defRPr>
            </a:pPr>
            <a:r>
              <a:t>2. Stage 2 (SER + Prosody): Load Emotion2Vec+ (1,240 MB) ➔ Extract emotion priors while Librosa runs on CPU ➔ Evict GPU to 0 MB.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defRPr sz="1050" b="0">
                <a:solidFill>
                  <a:srgbClr val="334155"/>
                </a:solidFill>
                <a:latin typeface="Segoe UI"/>
              </a:defRPr>
            </a:pPr>
            <a:r>
              <a:t>3. Stage 3 (Isolated C++ Process): Spawn `llama-server.exe` with `Kev-4B INT4` (2,410 MB) ➔ Execute single-pass System One ➔ Terminate process to free 100% VRAM.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059669"/>
                </a:solidFill>
                <a:latin typeface="Segoe UI"/>
              </a:defRPr>
            </a:pPr>
            <a:r>
              <a:t>⚡ Key Engineering Benefit: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defRPr sz="1019" b="0">
                <a:solidFill>
                  <a:srgbClr val="0F172A"/>
                </a:solidFill>
                <a:latin typeface="Segoe UI"/>
              </a:defRPr>
            </a:pPr>
            <a:r>
              <a:t>By executing Kev in an isolated C++ CUDA subprocess (`llama-server.exe`), we bypass Windows PyTorch Triton slowdowns (3.7x faster) and eliminate VRAM fragmentation.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9601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6. BENCHMARK EVALUATION  |  MULTILINGUAL ENTERPRISE CORPORA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058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Benchmark Results (Part 1): 60-Clip Audited &amp; 2,000-Clip Enterprise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515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Evaluated on real corporate earnings calls and financial broadcasts across English and Japanese.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37376"/>
            <a:ext cx="1100297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28816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Vocalis POC  |  Tri-Modal System One Architecture &amp; Dual UIs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28816"/>
            <a:ext cx="153619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34155"/>
                </a:solidFill>
                <a:latin typeface="Segoe UI"/>
              </a:defRPr>
            </a:pPr>
            <a:r>
              <a:t>16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71600"/>
            <a:ext cx="5349240" cy="48463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nterprise_bench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08760"/>
            <a:ext cx="5166360" cy="309981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126480" y="1371600"/>
            <a:ext cx="5468112" cy="162763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371600"/>
            <a:ext cx="73152" cy="16276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481328"/>
            <a:ext cx="516636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050" b="1">
                <a:solidFill>
                  <a:srgbClr val="2563EB"/>
                </a:solidFill>
                <a:latin typeface="Segoe UI"/>
              </a:defRPr>
            </a:pPr>
            <a:r>
              <a:t>DATASET ORIGIN &amp; GROUND-TRUTH STRUCTURE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 sz="980" b="0">
                <a:solidFill>
                  <a:srgbClr val="0F172A"/>
                </a:solidFill>
                <a:latin typeface="Segoe UI"/>
              </a:defRPr>
            </a:pPr>
            <a:r>
              <a:t>• Source Corpora: `Earnings22` (English quarterly earnings calls) + `ReazonSpeech` (Japanese financial broadcasts).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defRPr sz="950" b="0">
                <a:solidFill>
                  <a:srgbClr val="334155"/>
                </a:solidFill>
                <a:latin typeface="Segoe UI"/>
              </a:defRPr>
            </a:pPr>
            <a:r>
              <a:t>• Structure per Clip: Audio (`.wav`) + Ground-truth human transcript (`.txt`) + Categorical Emotion &amp; Sentiment ground-truth generated and audited using Gemma 3 Flash LLM (with manual human audit on the 60-clip set to ensure 100% precision).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127248"/>
            <a:ext cx="5468112" cy="1444752"/>
          </a:xfrm>
          <a:prstGeom prst="roundRect">
            <a:avLst>
              <a:gd name="adj" fmla="val 2500"/>
            </a:avLst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3127248"/>
            <a:ext cx="73152" cy="14447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3218688"/>
            <a:ext cx="5166360" cy="1261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 sz="1050" b="1">
                <a:solidFill>
                  <a:srgbClr val="059669"/>
                </a:solidFill>
                <a:latin typeface="Segoe UI"/>
              </a:defRPr>
            </a:pPr>
            <a:r>
              <a:t>NVIDIA GEFORCE GTX 1650 LATENCY (wrt 4.5s – 5.0s Audio Clip)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defRPr sz="950" b="0">
                <a:solidFill>
                  <a:srgbClr val="0F172A"/>
                </a:solidFill>
                <a:latin typeface="Segoe UI"/>
              </a:defRPr>
            </a:pPr>
            <a:r>
              <a:t>• Whisper Turbo INT8: ~180 ms (0.04x RTF)  |  Emotion2Vec+ Large: ~203 ms  |  Librosa Prosody: ~35 ms</a:t>
            </a:r>
            <a:br/>
            <a:r>
              <a:t>• Kev-0.8B (Q8_0 GGUF): ~170 ms  ➔  Total Pipeline: 592 ms (0.13x RTF, 7.6x faster than real-time)</a:t>
            </a:r>
            <a:br/>
            <a:r>
              <a:t>• Kev-4B (INT4 GGUF): ~2,530 ms  ➔  Total Pipeline: 2,950 ms (0.65x RTF, 1.5x real-time)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126480" y="4681728"/>
          <a:ext cx="5468112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1051560"/>
                <a:gridCol w="1097280"/>
                <a:gridCol w="1143000"/>
              </a:tblGrid>
              <a:tr h="307238"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Benchmark / Model</a:t>
                      </a:r>
                    </a:p>
                  </a:txBody>
                  <a:tcPr anchor="ctr" marL="109728" marR="109728" marT="54864" marB="54864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8-Emotion</a:t>
                      </a:r>
                    </a:p>
                  </a:txBody>
                  <a:tcPr anchor="ctr" marL="109728" marR="109728" marT="54864" marB="54864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3-Sentiment</a:t>
                      </a:r>
                    </a:p>
                  </a:txBody>
                  <a:tcPr anchor="ctr" marL="109728" marR="109728" marT="54864" marB="54864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EN / JA Sent.</a:t>
                      </a:r>
                    </a:p>
                  </a:txBody>
                  <a:tcPr anchor="ctr" marL="109728" marR="109728" marT="54864" marB="54864">
                    <a:solidFill>
                      <a:srgbClr val="0F172A"/>
                    </a:solidFill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defRPr sz="88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60-Clip: SER Only</a:t>
                      </a:r>
                    </a:p>
                  </a:txBody>
                  <a:tcPr anchor="ctr"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8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55.0%</a:t>
                      </a:r>
                    </a:p>
                  </a:txBody>
                  <a:tcPr anchor="ctr"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80" b="1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63.3%</a:t>
                      </a:r>
                    </a:p>
                  </a:txBody>
                  <a:tcPr anchor="ctr"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8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93.3% / 33.3%</a:t>
                      </a:r>
                    </a:p>
                  </a:txBody>
                  <a:tcPr anchor="ctr" marL="109728" marR="109728" marT="54864" marB="54864">
                    <a:solidFill>
                      <a:srgbClr val="FFFFFF"/>
                    </a:solidFill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defRPr sz="88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60-Clip: Kev-0.8B INT4</a:t>
                      </a:r>
                    </a:p>
                  </a:txBody>
                  <a:tcPr anchor="ctr" marL="109728" marR="109728" marT="54864" marB="54864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8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70.0%</a:t>
                      </a:r>
                    </a:p>
                  </a:txBody>
                  <a:tcPr anchor="ctr" marL="109728" marR="109728" marT="54864" marB="54864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80" b="1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75.0%</a:t>
                      </a:r>
                    </a:p>
                  </a:txBody>
                  <a:tcPr anchor="ctr" marL="109728" marR="109728" marT="54864" marB="54864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8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96.7% / 53.3%</a:t>
                      </a:r>
                    </a:p>
                  </a:txBody>
                  <a:tcPr anchor="ctr" marL="109728" marR="109728" marT="54864" marB="54864">
                    <a:solidFill>
                      <a:srgbClr val="F8FAFC"/>
                    </a:solidFill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defRPr sz="88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60-Clip: Kev-4B INT4</a:t>
                      </a:r>
                    </a:p>
                  </a:txBody>
                  <a:tcPr anchor="ctr" marL="109728" marR="109728" marT="54864" marB="54864"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8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78.3%</a:t>
                      </a:r>
                    </a:p>
                  </a:txBody>
                  <a:tcPr anchor="ctr" marL="109728" marR="109728" marT="54864" marB="54864"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83.3%</a:t>
                      </a:r>
                    </a:p>
                  </a:txBody>
                  <a:tcPr anchor="ctr" marL="109728" marR="109728" marT="54864" marB="54864"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8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90.0% / 76.7%</a:t>
                      </a:r>
                    </a:p>
                  </a:txBody>
                  <a:tcPr anchor="ctr" marL="109728" marR="109728" marT="54864" marB="54864">
                    <a:solidFill>
                      <a:srgbClr val="ECFDF5"/>
                    </a:solidFill>
                  </a:tcPr>
                </a:tc>
              </a:tr>
              <a:tr h="307240">
                <a:tc>
                  <a:txBody>
                    <a:bodyPr wrap="square"/>
                    <a:lstStyle/>
                    <a:p>
                      <a:pPr algn="l">
                        <a:defRPr sz="88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2,000-Clip: Vocalis Best</a:t>
                      </a:r>
                    </a:p>
                  </a:txBody>
                  <a:tcPr anchor="ctr" marL="109728" marR="109728" marT="54864" marB="54864"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8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63.1%</a:t>
                      </a:r>
                    </a:p>
                  </a:txBody>
                  <a:tcPr anchor="ctr" marL="109728" marR="109728" marT="54864" marB="54864"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67.6%</a:t>
                      </a:r>
                    </a:p>
                  </a:txBody>
                  <a:tcPr anchor="ctr" marL="109728" marR="109728" marT="54864" marB="54864"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8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84.3% / 50.9%</a:t>
                      </a:r>
                    </a:p>
                  </a:txBody>
                  <a:tcPr anchor="ctr" marL="109728" marR="109728" marT="54864" marB="54864"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9601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6. BENCHMARK EVALUATION  |  GOLD-STANDARD SER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058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Benchmark Results (Part 2): 122-Clip SER Validation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515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Tested across 4 standard emotional datasets: JVNV-JA (Japanese), TESS, SAVEE, and RAVDESS.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37376"/>
            <a:ext cx="1100297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28816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Vocalis POC  |  Tri-Modal System One Architecture &amp; Dual UIs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28816"/>
            <a:ext cx="153619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34155"/>
                </a:solidFill>
                <a:latin typeface="Segoe UI"/>
              </a:defRPr>
            </a:pPr>
            <a:r>
              <a:t>17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71600"/>
            <a:ext cx="5623560" cy="48463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er_val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08760"/>
            <a:ext cx="5440680" cy="3264408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0" y="1371600"/>
          <a:ext cx="5193792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3392"/>
                <a:gridCol w="1051560"/>
                <a:gridCol w="1051560"/>
                <a:gridCol w="1097280"/>
              </a:tblGrid>
              <a:tr h="518160"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SER Corpus</a:t>
                      </a:r>
                    </a:p>
                  </a:txBody>
                  <a:tcPr anchor="ctr" marL="109728" marR="109728" marT="54864" marB="54864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Emotion2Vec+</a:t>
                      </a:r>
                    </a:p>
                  </a:txBody>
                  <a:tcPr anchor="ctr" marL="109728" marR="109728" marT="54864" marB="54864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Kev-0.8B</a:t>
                      </a:r>
                    </a:p>
                  </a:txBody>
                  <a:tcPr anchor="ctr" marL="109728" marR="109728" marT="54864" marB="54864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Kev-4B INT4</a:t>
                      </a:r>
                    </a:p>
                  </a:txBody>
                  <a:tcPr anchor="ctr" marL="109728" marR="109728" marT="54864" marB="54864">
                    <a:solidFill>
                      <a:srgbClr val="0F172A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>
                        <a:defRPr sz="919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JVNV-JA (25 Japanese)</a:t>
                      </a:r>
                      <a:br/>
                      <a:r>
                        <a:t>Natural Emotional</a:t>
                      </a:r>
                    </a:p>
                  </a:txBody>
                  <a:tcPr anchor="ctr" marL="109728" marR="109728" marT="54864" marB="54864"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64.0% Emo</a:t>
                      </a:r>
                      <a:br/>
                      <a:r>
                        <a:t>88.0% Sent</a:t>
                      </a:r>
                    </a:p>
                  </a:txBody>
                  <a:tcPr anchor="ctr" marL="109728" marR="109728" marT="54864" marB="54864"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92.0% Emo</a:t>
                      </a:r>
                      <a:br/>
                      <a:r>
                        <a:t>96.0% Sent</a:t>
                      </a:r>
                    </a:p>
                  </a:txBody>
                  <a:tcPr anchor="ctr" marL="109728" marR="109728" marT="54864" marB="54864"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19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96.0% Emo ✅</a:t>
                      </a:r>
                      <a:br/>
                      <a:r>
                        <a:t>100.0% Sent ✅</a:t>
                      </a:r>
                    </a:p>
                  </a:txBody>
                  <a:tcPr anchor="ctr" marL="109728" marR="109728" marT="54864" marB="54864">
                    <a:solidFill>
                      <a:srgbClr val="ECFDF5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>
                        <a:defRPr sz="919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TESS (36 English)</a:t>
                      </a:r>
                      <a:br/>
                      <a:r>
                        <a:t>'Say the word &lt;X&gt;'</a:t>
                      </a:r>
                    </a:p>
                  </a:txBody>
                  <a:tcPr anchor="ctr" marL="109728" marR="109728" marT="54864" marB="54864"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100.0% Emo</a:t>
                      </a:r>
                      <a:br/>
                      <a:r>
                        <a:t>100.0% Sent</a:t>
                      </a:r>
                    </a:p>
                  </a:txBody>
                  <a:tcPr anchor="ctr" marL="109728" marR="109728" marT="54864" marB="54864"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36.1% Emo</a:t>
                      </a:r>
                      <a:br/>
                      <a:r>
                        <a:t>41.7% Sent</a:t>
                      </a:r>
                    </a:p>
                  </a:txBody>
                  <a:tcPr anchor="ctr" marL="109728" marR="109728" marT="54864" marB="54864"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19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91.7% Emo ✅</a:t>
                      </a:r>
                      <a:br/>
                      <a:r>
                        <a:t>86.1% Sent ✅</a:t>
                      </a:r>
                    </a:p>
                  </a:txBody>
                  <a:tcPr anchor="ctr" marL="109728" marR="109728" marT="54864" marB="54864">
                    <a:solidFill>
                      <a:srgbClr val="ECFDF5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>
                        <a:defRPr sz="919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SAVEE (25 English)</a:t>
                      </a:r>
                      <a:br/>
                      <a:r>
                        <a:t>Neutral Carrier Text</a:t>
                      </a:r>
                    </a:p>
                  </a:txBody>
                  <a:tcPr anchor="ctr"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84.0% Emo</a:t>
                      </a:r>
                      <a:br/>
                      <a:r>
                        <a:t>88.0% Sent</a:t>
                      </a:r>
                    </a:p>
                  </a:txBody>
                  <a:tcPr anchor="ctr"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20.0% Emo</a:t>
                      </a:r>
                      <a:br/>
                      <a:r>
                        <a:t>48.0% Sent</a:t>
                      </a:r>
                    </a:p>
                  </a:txBody>
                  <a:tcPr anchor="ctr"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19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48.0% Emo</a:t>
                      </a:r>
                      <a:br/>
                      <a:r>
                        <a:t>72.0% Sent</a:t>
                      </a:r>
                    </a:p>
                  </a:txBody>
                  <a:tcPr anchor="ctr" marL="109728" marR="109728" marT="54864" marB="54864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>
                        <a:defRPr sz="919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RAVDESS (36 English)</a:t>
                      </a:r>
                      <a:br/>
                      <a:r>
                        <a:t>'Dogs are sitting...'</a:t>
                      </a:r>
                    </a:p>
                  </a:txBody>
                  <a:tcPr anchor="ctr" marL="109728" marR="109728" marT="54864" marB="54864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88.9% Emo</a:t>
                      </a:r>
                      <a:br/>
                      <a:r>
                        <a:t>97.2% Sent</a:t>
                      </a:r>
                    </a:p>
                  </a:txBody>
                  <a:tcPr anchor="ctr" marL="109728" marR="109728" marT="54864" marB="54864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30.6% Emo</a:t>
                      </a:r>
                      <a:br/>
                      <a:r>
                        <a:t>30.6% Sent</a:t>
                      </a:r>
                    </a:p>
                  </a:txBody>
                  <a:tcPr anchor="ctr" marL="109728" marR="109728" marT="54864" marB="54864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19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52.8% Emo</a:t>
                      </a:r>
                      <a:br/>
                      <a:r>
                        <a:t>55.6% Sent</a:t>
                      </a:r>
                    </a:p>
                  </a:txBody>
                  <a:tcPr anchor="ctr" marL="109728" marR="109728" marT="54864" marB="54864">
                    <a:solidFill>
                      <a:srgbClr val="F8FAFC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>
                        <a:defRPr sz="919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OVERALL (122 Clips)</a:t>
                      </a:r>
                    </a:p>
                  </a:txBody>
                  <a:tcPr anchor="ctr" marL="109728" marR="109728" marT="54864" marB="54864"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86.1% Emo</a:t>
                      </a:r>
                      <a:br/>
                      <a:r>
                        <a:t>94.3% Sent</a:t>
                      </a:r>
                    </a:p>
                  </a:txBody>
                  <a:tcPr anchor="ctr" marL="109728" marR="109728" marT="54864" marB="54864"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42.6% Emo</a:t>
                      </a:r>
                      <a:br/>
                      <a:r>
                        <a:t>50.8% Sent</a:t>
                      </a:r>
                    </a:p>
                  </a:txBody>
                  <a:tcPr anchor="ctr" marL="109728" marR="109728" marT="54864" marB="54864"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19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72.1% Emo</a:t>
                      </a:r>
                      <a:br/>
                      <a:r>
                        <a:t>77.1% Sent</a:t>
                      </a:r>
                    </a:p>
                  </a:txBody>
                  <a:tcPr anchor="ctr" marL="109728" marR="109728" marT="54864" marB="54864"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400800" y="4645152"/>
            <a:ext cx="5193792" cy="1572768"/>
          </a:xfrm>
          <a:prstGeom prst="roundRect">
            <a:avLst>
              <a:gd name="adj" fmla="val 2500"/>
            </a:avLst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4645152"/>
            <a:ext cx="73152" cy="15727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4736592"/>
            <a:ext cx="484632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059669"/>
                </a:solidFill>
                <a:latin typeface="Segoe UI"/>
              </a:defRPr>
            </a:pPr>
            <a:r>
              <a:t>Why Kev-4B Dominates Kev-0.8B (+29.5% Accuracy):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defRPr sz="980" b="0">
                <a:solidFill>
                  <a:srgbClr val="0F172A"/>
                </a:solidFill>
                <a:latin typeface="Segoe UI"/>
              </a:defRPr>
            </a:pPr>
            <a:r>
              <a:t>• On `JVNV-JA` (real emotional speech), Kev-4B reaches 96% Emotion &amp; 100% Sentiment (+32% over SER alone).</a:t>
            </a:r>
            <a:br/>
            <a:r>
              <a:t>• On `TESS` ('Say the word ripe'), Kev-0.8B gets deceived by neutral text (36.1%), whereas Kev-4B correctly weights the acoustic prior (91.7%).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9601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7. MAJOR FOCUS #2  |  CHALLENGES &amp; OBSERVATIONS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058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5 Key Engineering Challenges Faced &amp; POC Observations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515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Real-world issues uncovered during our POC and the clean engineering fixes applied to the production pipeline.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37376"/>
            <a:ext cx="1100297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28816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Vocalis POC  |  Tri-Modal System One Architecture &amp; Dual UIs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28816"/>
            <a:ext cx="153619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34155"/>
                </a:solidFill>
                <a:latin typeface="Segoe UI"/>
              </a:defRPr>
            </a:pPr>
            <a:r>
              <a:t>18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53312"/>
            <a:ext cx="11002975" cy="877824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353312"/>
            <a:ext cx="73152" cy="877824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444752"/>
            <a:ext cx="297180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defRPr sz="850" b="1">
                <a:solidFill>
                  <a:srgbClr val="E11D48"/>
                </a:solidFill>
                <a:latin typeface="Segoe UI"/>
              </a:defRPr>
            </a:pPr>
            <a:r>
              <a:t>CHALLENGE #1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1. 300x Audio Gain Boost Erased Quiet Prosody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1444752"/>
            <a:ext cx="37947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defRPr sz="850" b="1">
                <a:solidFill>
                  <a:srgbClr val="64748B"/>
                </a:solidFill>
                <a:latin typeface="Segoe UI"/>
              </a:defRPr>
            </a:pPr>
            <a:r>
              <a:t>OBSERVATION / ROOT CAUSE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defRPr sz="980" b="0">
                <a:solidFill>
                  <a:srgbClr val="334155"/>
                </a:solidFill>
                <a:latin typeface="Segoe UI"/>
              </a:defRPr>
            </a:pPr>
            <a:r>
              <a:t>Auto-normalizing quiet mic recordings (300x boost) inflated baseline volume to 75.8 dB and distorted background hiss into rapid false speech.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1444752"/>
            <a:ext cx="365760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defRPr sz="850" b="1">
                <a:solidFill>
                  <a:srgbClr val="059669"/>
                </a:solidFill>
                <a:latin typeface="Segoe UI"/>
              </a:defRPr>
            </a:pPr>
            <a:r>
              <a:t>POC SOLUTION APPLIED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defRPr sz="980" b="1">
                <a:solidFill>
                  <a:srgbClr val="0F172A"/>
                </a:solidFill>
                <a:latin typeface="Segoe UI"/>
              </a:defRPr>
            </a:pPr>
            <a:r>
              <a:t>Routed un-normalized raw audio to Librosa (+ silence trimming), while sending normalized audio only to Whisper &amp; Emotion2Vec+.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340864"/>
            <a:ext cx="11002975" cy="877824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2340864"/>
            <a:ext cx="73152" cy="87782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432304"/>
            <a:ext cx="297180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defRPr sz="850" b="1">
                <a:solidFill>
                  <a:srgbClr val="D97706"/>
                </a:solidFill>
                <a:latin typeface="Segoe UI"/>
              </a:defRPr>
            </a:pPr>
            <a:r>
              <a:t>CHALLENGE #2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2. Bilingual SER Label Leakage ('难过/sad')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2432304"/>
            <a:ext cx="37947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defRPr sz="850" b="1">
                <a:solidFill>
                  <a:srgbClr val="64748B"/>
                </a:solidFill>
                <a:latin typeface="Segoe UI"/>
              </a:defRPr>
            </a:pPr>
            <a:r>
              <a:t>OBSERVATION / ROOT CAUSE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defRPr sz="980" b="0">
                <a:solidFill>
                  <a:srgbClr val="334155"/>
                </a:solidFill>
                <a:latin typeface="Segoe UI"/>
              </a:defRPr>
            </a:pPr>
            <a:r>
              <a:t>Emotion2Vec+ outputs Chinese/English labels ('难过/sad'). Passing raw unsplit strings into the English Live Studio prompt weakened Kev.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2432304"/>
            <a:ext cx="365760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defRPr sz="850" b="1">
                <a:solidFill>
                  <a:srgbClr val="059669"/>
                </a:solidFill>
                <a:latin typeface="Segoe UI"/>
              </a:defRPr>
            </a:pPr>
            <a:r>
              <a:t>POC SOLUTION APPLIED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defRPr sz="980" b="1">
                <a:solidFill>
                  <a:srgbClr val="0F172A"/>
                </a:solidFill>
                <a:latin typeface="Segoe UI"/>
              </a:defRPr>
            </a:pPr>
            <a:r>
              <a:t>Added `clean_e2v_label()` to strip Chinese prefixes before formatting the Kev `/v1/systemone` prompt.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328416"/>
            <a:ext cx="11002975" cy="877824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" y="3328416"/>
            <a:ext cx="73152" cy="87782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3419856"/>
            <a:ext cx="297180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defRPr sz="850" b="1">
                <a:solidFill>
                  <a:srgbClr val="2563EB"/>
                </a:solidFill>
                <a:latin typeface="Segoe UI"/>
              </a:defRPr>
            </a:pPr>
            <a:r>
              <a:t>CHALLENGE #3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3. 4 GB VRAM Ceiling &amp; PyTorch CUDA Overhead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3419856"/>
            <a:ext cx="37947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defRPr sz="850" b="1">
                <a:solidFill>
                  <a:srgbClr val="64748B"/>
                </a:solidFill>
                <a:latin typeface="Segoe UI"/>
              </a:defRPr>
            </a:pPr>
            <a:r>
              <a:t>OBSERVATION / ROOT CAUSE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defRPr sz="980" b="0">
                <a:solidFill>
                  <a:srgbClr val="334155"/>
                </a:solidFill>
                <a:latin typeface="Segoe UI"/>
              </a:defRPr>
            </a:pPr>
            <a:r>
              <a:t>Loading all models together requires 5.2 GB VRAM, and Windows PyTorch NF4 lacked Triton kernels (running 3.7x slower).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3419856"/>
            <a:ext cx="365760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defRPr sz="850" b="1">
                <a:solidFill>
                  <a:srgbClr val="059669"/>
                </a:solidFill>
                <a:latin typeface="Segoe UI"/>
              </a:defRPr>
            </a:pPr>
            <a:r>
              <a:t>POC SOLUTION APPLIED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defRPr sz="980" b="1">
                <a:solidFill>
                  <a:srgbClr val="0F172A"/>
                </a:solidFill>
                <a:latin typeface="Segoe UI"/>
              </a:defRPr>
            </a:pPr>
            <a:r>
              <a:t>Built 4-stage GPU eviction and offloaded Kev to an isolated C++ `llama-server.exe` GGUF process (3.7x speedup, zero OOMs).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315968"/>
            <a:ext cx="11002975" cy="877824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" y="4315968"/>
            <a:ext cx="73152" cy="87782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4407408"/>
            <a:ext cx="297180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defRPr sz="850" b="1">
                <a:solidFill>
                  <a:srgbClr val="4F46E5"/>
                </a:solidFill>
                <a:latin typeface="Segoe UI"/>
              </a:defRPr>
            </a:pPr>
            <a:r>
              <a:t>CHALLENGE #4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4. Japanese Pitch-Accent SER Hallucinations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86200" y="4407408"/>
            <a:ext cx="37947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defRPr sz="850" b="1">
                <a:solidFill>
                  <a:srgbClr val="64748B"/>
                </a:solidFill>
                <a:latin typeface="Segoe UI"/>
              </a:defRPr>
            </a:pPr>
            <a:r>
              <a:t>OBSERVATION / ROOT CAUSE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defRPr sz="980" b="0">
                <a:solidFill>
                  <a:srgbClr val="334155"/>
                </a:solidFill>
                <a:latin typeface="Segoe UI"/>
              </a:defRPr>
            </a:pPr>
            <a:r>
              <a:t>Standalone SER failed on 73.9% of Japanese clips, predicting 'happy' with 95% confidence due to natural Japanese pitch-accent.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4407408"/>
            <a:ext cx="365760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defRPr sz="850" b="1">
                <a:solidFill>
                  <a:srgbClr val="059669"/>
                </a:solidFill>
                <a:latin typeface="Segoe UI"/>
              </a:defRPr>
            </a:pPr>
            <a:r>
              <a:t>POC SOLUTION APPLIED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defRPr sz="980" b="1">
                <a:solidFill>
                  <a:srgbClr val="0F172A"/>
                </a:solidFill>
                <a:latin typeface="Segoe UI"/>
              </a:defRPr>
            </a:pPr>
            <a:r>
              <a:t>Used Early Prompt Priming (instead of Late Math Fusion) so Kev can override false 'happy' SER priors using the transcript.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5303520"/>
            <a:ext cx="11002975" cy="877824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4360" y="5303520"/>
            <a:ext cx="73152" cy="87782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5394960"/>
            <a:ext cx="297180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defRPr sz="850" b="1">
                <a:solidFill>
                  <a:srgbClr val="059669"/>
                </a:solidFill>
                <a:latin typeface="Segoe UI"/>
              </a:defRPr>
            </a:pPr>
            <a:r>
              <a:t>CHALLENGE #5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5. Model Size Threshold for Sarcasm (0.8B vs 4B)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200" y="5394960"/>
            <a:ext cx="37947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defRPr sz="850" b="1">
                <a:solidFill>
                  <a:srgbClr val="64748B"/>
                </a:solidFill>
                <a:latin typeface="Segoe UI"/>
              </a:defRPr>
            </a:pPr>
            <a:r>
              <a:t>OBSERVATION / ROOT CAUSE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defRPr sz="980" b="0">
                <a:solidFill>
                  <a:srgbClr val="334155"/>
                </a:solidFill>
                <a:latin typeface="Segoe UI"/>
              </a:defRPr>
            </a:pPr>
            <a:r>
              <a:t>On polite sarcastic audio ('Thank you' spoken sadly), Kev-0.8B trusted the polite words (83% conf), missing the vocal contradiction.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18120" y="5394960"/>
            <a:ext cx="365760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defRPr sz="850" b="1">
                <a:solidFill>
                  <a:srgbClr val="059669"/>
                </a:solidFill>
                <a:latin typeface="Segoe UI"/>
              </a:defRPr>
            </a:pPr>
            <a:r>
              <a:t>POC SOLUTION APPLIED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defRPr sz="980" b="1">
                <a:solidFill>
                  <a:srgbClr val="0F172A"/>
                </a:solidFill>
                <a:latin typeface="Segoe UI"/>
              </a:defRPr>
            </a:pPr>
            <a:r>
              <a:t>Standardized Live Studio on `Kev-4B INT4 (Q4_K_M.gguf)`, which detects sarcasm (57.2%) and flips sentiment to Negative.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9601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8. MAJOR FOCUS #1  |  FINAL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058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Final Recommendations &amp; Production Rollout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515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Four concrete recommendations from the Vocalis POC for enterprise deployment.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37376"/>
            <a:ext cx="1100297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28816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Vocalis POC  |  Tri-Modal System One Architecture &amp; Dual UIs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28816"/>
            <a:ext cx="153619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34155"/>
                </a:solidFill>
                <a:latin typeface="Segoe UI"/>
              </a:defRPr>
            </a:pPr>
            <a:r>
              <a:t>19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404104" cy="199339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389888"/>
            <a:ext cx="5404104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95528" y="1554480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80" b="1">
                <a:solidFill>
                  <a:srgbClr val="059669"/>
                </a:solidFill>
                <a:latin typeface="Segoe UI"/>
              </a:defRPr>
            </a:pPr>
            <a:r>
              <a:t>RECOMMENDATION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883664"/>
            <a:ext cx="49834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Deploy Kev-4B INT4 (GGUF) as Primary Arbitrator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defRPr sz="1019" b="0">
                <a:solidFill>
                  <a:srgbClr val="334155"/>
                </a:solidFill>
                <a:latin typeface="Segoe UI"/>
              </a:defRPr>
            </a:pPr>
            <a:r>
              <a:t>• Use `Kev-4B-Q4_K_M.gguf` via C++ `llama-server.exe` for Live Studio and customer-facing analytics.</a:t>
            </a:r>
            <a:br/>
            <a:r>
              <a:t>• Essential for resolving sarcasm, passive-aggression, and vocal-lexical conflicts (83.3% call sentiment, 100% JVNV-JA sentiment).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1389888"/>
            <a:ext cx="5404104" cy="199339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0488" y="1389888"/>
            <a:ext cx="5404104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91656" y="1554480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80" b="1">
                <a:solidFill>
                  <a:srgbClr val="2563EB"/>
                </a:solidFill>
                <a:latin typeface="Segoe UI"/>
              </a:defRPr>
            </a:pPr>
            <a:r>
              <a:t>RECOMMENDATION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1656" y="1883664"/>
            <a:ext cx="49834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Use Kev-0.8B (Q8_0 GGUF) for High-Speed Batch Archival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defRPr sz="1019" b="0">
                <a:solidFill>
                  <a:srgbClr val="334155"/>
                </a:solidFill>
                <a:latin typeface="Segoe UI"/>
              </a:defRPr>
            </a:pPr>
            <a:r>
              <a:t>• Deploy `Kev-0.8B-Q8_0.gguf` when processing large backlogs of historical recordings where sub-second speed is priority.</a:t>
            </a:r>
            <a:br/>
            <a:r>
              <a:t>• Runs at 1.51 clips/sec (592 ms/clip) in just 803 MB VRAM with 83.4% English sentiment accuracy.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566160"/>
            <a:ext cx="5404104" cy="199339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3566160"/>
            <a:ext cx="5404104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95528" y="3730752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80" b="1">
                <a:solidFill>
                  <a:srgbClr val="4F46E5"/>
                </a:solidFill>
                <a:latin typeface="Segoe UI"/>
              </a:defRPr>
            </a:pPr>
            <a:r>
              <a:t>RECOMMENDATION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4059935"/>
            <a:ext cx="49834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Surface 3-Way Sentiment KPIs + 8-Emotion Drill-Down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defRPr sz="1019" b="0">
                <a:solidFill>
                  <a:srgbClr val="334155"/>
                </a:solidFill>
                <a:latin typeface="Segoe UI"/>
              </a:defRPr>
            </a:pPr>
            <a:r>
              <a:t>• Present 3-Way Sentiment (`Positive`, `Neutral`, `Negative`) with the automatic `sarcasm_flag` flip as the top-level business metric.</a:t>
            </a:r>
            <a:br/>
            <a:r>
              <a:t>• Retain the 8 canonical emotions (`outrage_hostility`, `urgency_panic`, `disappointed_sad`) for compliance escalation.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0488" y="3566160"/>
            <a:ext cx="5404104" cy="199339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0488" y="3566160"/>
            <a:ext cx="5404104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91656" y="3730752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80" b="1">
                <a:solidFill>
                  <a:srgbClr val="D97706"/>
                </a:solidFill>
                <a:latin typeface="Segoe UI"/>
              </a:defRPr>
            </a:pPr>
            <a:r>
              <a:t>RECOMMENDATION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1656" y="4059935"/>
            <a:ext cx="49834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Enforce Dual-Stream Audio DSP &amp; Early System One Priming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defRPr sz="1019" b="0">
                <a:solidFill>
                  <a:srgbClr val="334155"/>
                </a:solidFill>
                <a:latin typeface="Segoe UI"/>
              </a:defRPr>
            </a:pPr>
            <a:r>
              <a:t>• Never run prosody extraction on gain-normalized audio, and avoid post-LLM probability averaging.</a:t>
            </a:r>
            <a:br/>
            <a:r>
              <a:t>• Keep fusion strictly inside System One's prompt attention to protect multilingual accuracy from SER accent bias.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5779008"/>
            <a:ext cx="11002975" cy="530352"/>
          </a:xfrm>
          <a:prstGeom prst="roundRect">
            <a:avLst>
              <a:gd name="adj" fmla="val 25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888736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defRPr sz="1150" b="1">
                <a:solidFill>
                  <a:srgbClr val="FFFFFF"/>
                </a:solidFill>
                <a:latin typeface="Segoe UI"/>
              </a:defRPr>
            </a:pPr>
            <a:r>
              <a:t>Thank You  |  Vocalis POC Architecture &amp; Technical Briefing  |  Live Demo Running at http://localhost:5173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